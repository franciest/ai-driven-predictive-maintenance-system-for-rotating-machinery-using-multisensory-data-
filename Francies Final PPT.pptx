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9" r:id="rId3"/>
    <p:sldId id="257" r:id="rId4"/>
    <p:sldId id="337" r:id="rId5"/>
    <p:sldId id="338" r:id="rId6"/>
    <p:sldId id="260" r:id="rId7"/>
    <p:sldId id="261" r:id="rId8"/>
    <p:sldId id="262" r:id="rId9"/>
    <p:sldId id="339" r:id="rId10"/>
    <p:sldId id="352" r:id="rId11"/>
    <p:sldId id="263" r:id="rId12"/>
    <p:sldId id="356" r:id="rId13"/>
    <p:sldId id="357" r:id="rId14"/>
    <p:sldId id="341" r:id="rId15"/>
    <p:sldId id="271" r:id="rId16"/>
    <p:sldId id="286" r:id="rId17"/>
    <p:sldId id="318" r:id="rId18"/>
    <p:sldId id="326" r:id="rId19"/>
    <p:sldId id="327" r:id="rId20"/>
    <p:sldId id="287" r:id="rId21"/>
    <p:sldId id="321" r:id="rId22"/>
    <p:sldId id="353" r:id="rId23"/>
    <p:sldId id="354" r:id="rId24"/>
    <p:sldId id="323" r:id="rId25"/>
    <p:sldId id="324" r:id="rId26"/>
    <p:sldId id="329" r:id="rId27"/>
    <p:sldId id="348" r:id="rId28"/>
    <p:sldId id="359" r:id="rId29"/>
    <p:sldId id="350" r:id="rId30"/>
    <p:sldId id="355" r:id="rId31"/>
    <p:sldId id="332" r:id="rId32"/>
    <p:sldId id="336" r:id="rId33"/>
    <p:sldId id="346" r:id="rId34"/>
    <p:sldId id="34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CA39E8-DBF0-4A73-AE01-5F7C73BE1910}"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9C6D0-B490-4035-A701-009F667F470D}" type="slidenum">
              <a:rPr lang="en-IN" smtClean="0"/>
              <a:t>‹#›</a:t>
            </a:fld>
            <a:endParaRPr lang="en-IN"/>
          </a:p>
        </p:txBody>
      </p:sp>
    </p:spTree>
    <p:extLst>
      <p:ext uri="{BB962C8B-B14F-4D97-AF65-F5344CB8AC3E}">
        <p14:creationId xmlns:p14="http://schemas.microsoft.com/office/powerpoint/2010/main" val="270624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29C6D0-B490-4035-A701-009F667F470D}" type="slidenum">
              <a:rPr lang="en-IN" smtClean="0"/>
              <a:t>28</a:t>
            </a:fld>
            <a:endParaRPr lang="en-IN"/>
          </a:p>
        </p:txBody>
      </p:sp>
    </p:spTree>
    <p:extLst>
      <p:ext uri="{BB962C8B-B14F-4D97-AF65-F5344CB8AC3E}">
        <p14:creationId xmlns:p14="http://schemas.microsoft.com/office/powerpoint/2010/main" val="787989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22B7-B653-40AB-9BD5-973E4D8973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80ECE8-A2B8-36C7-788D-C5FB7DF40D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00BA24-2F78-867C-0B5C-A00763C6B492}"/>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5" name="Footer Placeholder 4">
            <a:extLst>
              <a:ext uri="{FF2B5EF4-FFF2-40B4-BE49-F238E27FC236}">
                <a16:creationId xmlns:a16="http://schemas.microsoft.com/office/drawing/2014/main" id="{303F29C1-9936-E59C-D5FB-6A59C3776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CFD9B-C60C-0338-5836-4FC01B499D4E}"/>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343914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F38C2-4DF5-55D9-B9FE-192898E8EA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A48ACF-9274-F966-7223-F895AF9243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E2901F-A8CF-3F8D-9C04-B29AF1E2FA0A}"/>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5" name="Footer Placeholder 4">
            <a:extLst>
              <a:ext uri="{FF2B5EF4-FFF2-40B4-BE49-F238E27FC236}">
                <a16:creationId xmlns:a16="http://schemas.microsoft.com/office/drawing/2014/main" id="{0F5CC9DC-6858-3B38-84EA-F8FE399C72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50AE0E-A9B7-C321-B4FF-A97BF9B95781}"/>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243918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DB863-6D66-DBAD-C94D-AF2C783548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DAE789-82D7-8699-D877-0FAB3C184D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099740-BC5F-8EC4-9277-D3760149B3FC}"/>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5" name="Footer Placeholder 4">
            <a:extLst>
              <a:ext uri="{FF2B5EF4-FFF2-40B4-BE49-F238E27FC236}">
                <a16:creationId xmlns:a16="http://schemas.microsoft.com/office/drawing/2014/main" id="{2136667A-90AE-CF69-7C7F-E81BA2D4AF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1DDD5-E117-D4E2-F4D9-98ACDCD01BD0}"/>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3066541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E8714-A38D-159F-FA1F-228CF54215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ADB748-2D3E-6FF5-1B9E-241173B5E6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3C63B8-3C71-C677-CC14-E31065CF20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0F4E9D-A523-B37E-6086-FB568C68BCB2}"/>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6" name="Footer Placeholder 5">
            <a:extLst>
              <a:ext uri="{FF2B5EF4-FFF2-40B4-BE49-F238E27FC236}">
                <a16:creationId xmlns:a16="http://schemas.microsoft.com/office/drawing/2014/main" id="{E1727942-3FF1-08AD-C810-408C1EA5DD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B24B21-5BA1-C64E-29F5-46E741C7C435}"/>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3549997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80D3-513B-A7E1-668B-87D4ACFCD5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8868E7-6051-28AD-0BF4-421E473890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CFDCDB-F82F-23FD-D1ED-1CE133BC4A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6B4F07-89C0-F649-84E6-4D5DBB60A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4489D6-10DC-A0AB-BF58-CD504D95B1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08B38E-FB5F-5CC8-7AC7-08C414FF9FCD}"/>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8" name="Footer Placeholder 7">
            <a:extLst>
              <a:ext uri="{FF2B5EF4-FFF2-40B4-BE49-F238E27FC236}">
                <a16:creationId xmlns:a16="http://schemas.microsoft.com/office/drawing/2014/main" id="{159506D9-8F69-D0CD-3DA6-8889611321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4A7FC5-63E9-B510-B926-8E6CC3A29AA0}"/>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1035531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CF1E3-0EC4-E3FD-FF26-71A202F1E5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3A5072-9E66-B5D2-9EB1-FB2411138B90}"/>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4" name="Footer Placeholder 3">
            <a:extLst>
              <a:ext uri="{FF2B5EF4-FFF2-40B4-BE49-F238E27FC236}">
                <a16:creationId xmlns:a16="http://schemas.microsoft.com/office/drawing/2014/main" id="{B21CDC6D-0847-56A1-A070-7E5AE1EBF9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E3C230-2061-65D7-4796-9B9589CFDF8B}"/>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322817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FA72B1-1673-7C6B-3E93-DD1CED36E2DF}"/>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3" name="Footer Placeholder 2">
            <a:extLst>
              <a:ext uri="{FF2B5EF4-FFF2-40B4-BE49-F238E27FC236}">
                <a16:creationId xmlns:a16="http://schemas.microsoft.com/office/drawing/2014/main" id="{68263A35-66E5-2C87-4B8A-79E469F6AA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22BBBC-3A0A-6986-CC7B-5C8F2F7BD372}"/>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2904019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BAEC-3A78-2FD2-11B5-F10D792E8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250E63-EBD5-FEB6-EC6E-0A50B23062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818D88-2B5C-93B7-B43A-9E939C57F0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4DD3A-40AA-0CB4-F580-53815D686D30}"/>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6" name="Footer Placeholder 5">
            <a:extLst>
              <a:ext uri="{FF2B5EF4-FFF2-40B4-BE49-F238E27FC236}">
                <a16:creationId xmlns:a16="http://schemas.microsoft.com/office/drawing/2014/main" id="{EC45590E-6793-07B0-2211-374506208E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E82602-6790-DBE9-8460-0B9B87000227}"/>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2951379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FB23C-6603-DDF6-9E00-B797A66238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A770097-D668-39FB-8FD4-C96AD8930D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B79222-D24F-59E0-B39F-9B82906BE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963B4-DC02-F77C-68BC-8E1E116CE6A2}"/>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6" name="Footer Placeholder 5">
            <a:extLst>
              <a:ext uri="{FF2B5EF4-FFF2-40B4-BE49-F238E27FC236}">
                <a16:creationId xmlns:a16="http://schemas.microsoft.com/office/drawing/2014/main" id="{0E8893D3-70DE-7AB1-9FF3-1BAE2CADC7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3EEBA3-FF06-2998-6445-0E1F4CC75AF9}"/>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637634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F2850-2DEB-7315-2B1B-8F680B547C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31DED6-771F-C0DB-BF93-FB8A022D6E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30E606-0B6B-41E8-6339-5C1EBFED4166}"/>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5" name="Footer Placeholder 4">
            <a:extLst>
              <a:ext uri="{FF2B5EF4-FFF2-40B4-BE49-F238E27FC236}">
                <a16:creationId xmlns:a16="http://schemas.microsoft.com/office/drawing/2014/main" id="{6EE24EC7-B256-050E-739E-FCDE8F9E80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5E3782-5801-7AF5-CE21-7C475B6D610A}"/>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1786028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2F32EA-A538-36FF-CDCA-6619D7561B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22EB1C-54F6-6FE2-4D0D-A15B9EE7E5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E6B251-E482-4678-3A9E-E16875B8800A}"/>
              </a:ext>
            </a:extLst>
          </p:cNvPr>
          <p:cNvSpPr>
            <a:spLocks noGrp="1"/>
          </p:cNvSpPr>
          <p:nvPr>
            <p:ph type="dt" sz="half" idx="10"/>
          </p:nvPr>
        </p:nvSpPr>
        <p:spPr/>
        <p:txBody>
          <a:bodyPr/>
          <a:lstStyle/>
          <a:p>
            <a:fld id="{C67B9530-F328-4B9A-891A-5CFF038BE760}" type="datetimeFigureOut">
              <a:rPr lang="en-IN" smtClean="0"/>
              <a:t>19-04-2026</a:t>
            </a:fld>
            <a:endParaRPr lang="en-IN"/>
          </a:p>
        </p:txBody>
      </p:sp>
      <p:sp>
        <p:nvSpPr>
          <p:cNvPr id="5" name="Footer Placeholder 4">
            <a:extLst>
              <a:ext uri="{FF2B5EF4-FFF2-40B4-BE49-F238E27FC236}">
                <a16:creationId xmlns:a16="http://schemas.microsoft.com/office/drawing/2014/main" id="{1880F88F-0EEE-EB9B-F64D-110155F85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B30B58-630B-F742-45FA-2750A23ED7CC}"/>
              </a:ext>
            </a:extLst>
          </p:cNvPr>
          <p:cNvSpPr>
            <a:spLocks noGrp="1"/>
          </p:cNvSpPr>
          <p:nvPr>
            <p:ph type="sldNum" sz="quarter" idx="12"/>
          </p:nvPr>
        </p:nvSpPr>
        <p:spPr/>
        <p:txBody>
          <a:bodyPr/>
          <a:lstStyle/>
          <a:p>
            <a:fld id="{BA44E016-E3F0-4B92-B754-FB7763916C28}" type="slidenum">
              <a:rPr lang="en-IN" smtClean="0"/>
              <a:t>‹#›</a:t>
            </a:fld>
            <a:endParaRPr lang="en-IN"/>
          </a:p>
        </p:txBody>
      </p:sp>
    </p:spTree>
    <p:extLst>
      <p:ext uri="{BB962C8B-B14F-4D97-AF65-F5344CB8AC3E}">
        <p14:creationId xmlns:p14="http://schemas.microsoft.com/office/powerpoint/2010/main" val="426206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B8E279-8FD5-AACB-7F53-D79722182A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B16887-1515-6784-9BBE-8A48861956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26676-E916-9942-7262-59EF9E93CD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7B9530-F328-4B9A-891A-5CFF038BE760}" type="datetimeFigureOut">
              <a:rPr lang="en-IN" smtClean="0"/>
              <a:t>19-04-2026</a:t>
            </a:fld>
            <a:endParaRPr lang="en-IN"/>
          </a:p>
        </p:txBody>
      </p:sp>
      <p:sp>
        <p:nvSpPr>
          <p:cNvPr id="5" name="Footer Placeholder 4">
            <a:extLst>
              <a:ext uri="{FF2B5EF4-FFF2-40B4-BE49-F238E27FC236}">
                <a16:creationId xmlns:a16="http://schemas.microsoft.com/office/drawing/2014/main" id="{7EF70C4B-4F81-1392-11D4-886CF8099A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92052C-47A7-45ED-8676-4D13A27BC9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44E016-E3F0-4B92-B754-FB7763916C28}" type="slidenum">
              <a:rPr lang="en-IN" smtClean="0"/>
              <a:t>‹#›</a:t>
            </a:fld>
            <a:endParaRPr lang="en-IN"/>
          </a:p>
        </p:txBody>
      </p:sp>
    </p:spTree>
    <p:extLst>
      <p:ext uri="{BB962C8B-B14F-4D97-AF65-F5344CB8AC3E}">
        <p14:creationId xmlns:p14="http://schemas.microsoft.com/office/powerpoint/2010/main" val="3367897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5" Type="http://schemas.openxmlformats.org/officeDocument/2006/relationships/image" Target="../media/image18.jpe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9F64-82BB-11DF-3C07-1F3F8A424F7E}"/>
              </a:ext>
            </a:extLst>
          </p:cNvPr>
          <p:cNvSpPr>
            <a:spLocks noGrp="1"/>
          </p:cNvSpPr>
          <p:nvPr>
            <p:ph type="ctrTitle"/>
          </p:nvPr>
        </p:nvSpPr>
        <p:spPr>
          <a:xfrm>
            <a:off x="422222" y="916535"/>
            <a:ext cx="11347555" cy="1261438"/>
          </a:xfrm>
        </p:spPr>
        <p:txBody>
          <a:bodyPr>
            <a:normAutofit/>
          </a:bodyPr>
          <a:lstStyle/>
          <a:p>
            <a:r>
              <a:rPr lang="en-US" sz="3200" b="1" dirty="0">
                <a:latin typeface="Times New Roman" panose="02020603050405020304" pitchFamily="18" charset="0"/>
                <a:cs typeface="Times New Roman" panose="02020603050405020304" pitchFamily="18" charset="0"/>
              </a:rPr>
              <a:t>AI-Driven Predictive Maintenance System for Rotating Machinery using Multisensory Data</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D587773-FCCA-B6EF-FF22-0F4D24CBB9DA}"/>
              </a:ext>
            </a:extLst>
          </p:cNvPr>
          <p:cNvSpPr>
            <a:spLocks noGrp="1"/>
          </p:cNvSpPr>
          <p:nvPr>
            <p:ph type="subTitle" idx="1"/>
          </p:nvPr>
        </p:nvSpPr>
        <p:spPr>
          <a:xfrm>
            <a:off x="404732" y="2177973"/>
            <a:ext cx="11347555" cy="4029066"/>
          </a:xfrm>
        </p:spPr>
        <p:txBody>
          <a:bodyPr>
            <a:noAutofit/>
          </a:bodyPr>
          <a:lstStyle/>
          <a:p>
            <a:pPr algn="l">
              <a:lnSpc>
                <a:spcPct val="150000"/>
              </a:lnSpc>
            </a:pPr>
            <a:r>
              <a:rPr lang="en-US" b="1" dirty="0">
                <a:latin typeface="Times New Roman" panose="02020603050405020304" pitchFamily="18" charset="0"/>
                <a:cs typeface="Times New Roman" panose="02020603050405020304" pitchFamily="18" charset="0"/>
              </a:rPr>
              <a:t>Branch: </a:t>
            </a:r>
            <a:r>
              <a:rPr lang="en-US" dirty="0" err="1">
                <a:latin typeface="Times New Roman" panose="02020603050405020304" pitchFamily="18" charset="0"/>
                <a:cs typeface="Times New Roman" panose="02020603050405020304" pitchFamily="18" charset="0"/>
              </a:rPr>
              <a:t>B.Tech</a:t>
            </a:r>
            <a:r>
              <a:rPr lang="en-US" dirty="0">
                <a:latin typeface="Times New Roman" panose="02020603050405020304" pitchFamily="18" charset="0"/>
                <a:cs typeface="Times New Roman" panose="02020603050405020304" pitchFamily="18" charset="0"/>
              </a:rPr>
              <a:t> Artificial Intelligence and Data Science</a:t>
            </a:r>
          </a:p>
          <a:p>
            <a:pPr algn="l">
              <a:lnSpc>
                <a:spcPct val="150000"/>
              </a:lnSpc>
            </a:pPr>
            <a:r>
              <a:rPr lang="en-US" b="1" dirty="0">
                <a:latin typeface="Times New Roman" panose="02020603050405020304" pitchFamily="18" charset="0"/>
                <a:cs typeface="Times New Roman" panose="02020603050405020304" pitchFamily="18" charset="0"/>
              </a:rPr>
              <a:t>Academic Year: </a:t>
            </a:r>
            <a:r>
              <a:rPr lang="en-US" dirty="0">
                <a:latin typeface="Times New Roman" panose="02020603050405020304" pitchFamily="18" charset="0"/>
                <a:cs typeface="Times New Roman" panose="02020603050405020304" pitchFamily="18" charset="0"/>
              </a:rPr>
              <a:t>2025 – 2026</a:t>
            </a:r>
          </a:p>
          <a:p>
            <a:pPr algn="l"/>
            <a:r>
              <a:rPr lang="en-US" b="1" dirty="0">
                <a:latin typeface="Times New Roman" panose="02020603050405020304" pitchFamily="18" charset="0"/>
                <a:cs typeface="Times New Roman" panose="02020603050405020304" pitchFamily="18" charset="0"/>
              </a:rPr>
              <a:t>Guide:</a:t>
            </a:r>
          </a:p>
          <a:p>
            <a:pPr algn="l"/>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Ms.S.Anitha</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Assistant Professor of AI&amp;DS</a:t>
            </a:r>
            <a:endParaRPr lang="en-IN"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1917198-5203-A237-F57A-791435623928}"/>
              </a:ext>
            </a:extLst>
          </p:cNvPr>
          <p:cNvSpPr txBox="1"/>
          <p:nvPr/>
        </p:nvSpPr>
        <p:spPr>
          <a:xfrm>
            <a:off x="6140820" y="3407676"/>
            <a:ext cx="5323594" cy="156966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Team Members: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Bal </a:t>
            </a:r>
            <a:r>
              <a:rPr lang="en-US" sz="2400" dirty="0" err="1">
                <a:latin typeface="Times New Roman" panose="02020603050405020304" pitchFamily="18" charset="0"/>
                <a:cs typeface="Times New Roman" panose="02020603050405020304" pitchFamily="18" charset="0"/>
              </a:rPr>
              <a:t>Abisheak</a:t>
            </a:r>
            <a:r>
              <a:rPr lang="en-US" sz="2400" dirty="0">
                <a:latin typeface="Times New Roman" panose="02020603050405020304" pitchFamily="18" charset="0"/>
                <a:cs typeface="Times New Roman" panose="02020603050405020304" pitchFamily="18" charset="0"/>
              </a:rPr>
              <a:t> C (952022243010)</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Francies T (952022243016)</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Vinay Prasath R (952022243049)</a:t>
            </a:r>
          </a:p>
        </p:txBody>
      </p:sp>
      <p:pic>
        <p:nvPicPr>
          <p:cNvPr id="4" name="Image 2" descr="Anna university Logo PNG Vector">
            <a:extLst>
              <a:ext uri="{FF2B5EF4-FFF2-40B4-BE49-F238E27FC236}">
                <a16:creationId xmlns:a16="http://schemas.microsoft.com/office/drawing/2014/main" id="{35F288CC-1ECB-C9B9-2D48-A7BABBA7AD5D}"/>
              </a:ext>
            </a:extLst>
          </p:cNvPr>
          <p:cNvPicPr>
            <a:picLocks/>
          </p:cNvPicPr>
          <p:nvPr/>
        </p:nvPicPr>
        <p:blipFill>
          <a:blip r:embed="rId2" cstate="print"/>
          <a:stretch>
            <a:fillRect/>
          </a:stretch>
        </p:blipFill>
        <p:spPr>
          <a:xfrm>
            <a:off x="404732" y="153747"/>
            <a:ext cx="1047750" cy="929005"/>
          </a:xfrm>
          <a:prstGeom prst="rect">
            <a:avLst/>
          </a:prstGeom>
        </p:spPr>
      </p:pic>
      <p:pic>
        <p:nvPicPr>
          <p:cNvPr id="5" name="Image 3">
            <a:extLst>
              <a:ext uri="{FF2B5EF4-FFF2-40B4-BE49-F238E27FC236}">
                <a16:creationId xmlns:a16="http://schemas.microsoft.com/office/drawing/2014/main" id="{5A41E861-38FB-85B4-10D5-F0C0B87B6AC5}"/>
              </a:ext>
            </a:extLst>
          </p:cNvPr>
          <p:cNvPicPr>
            <a:picLocks/>
          </p:cNvPicPr>
          <p:nvPr/>
        </p:nvPicPr>
        <p:blipFill>
          <a:blip r:embed="rId3" cstate="print"/>
          <a:stretch>
            <a:fillRect/>
          </a:stretch>
        </p:blipFill>
        <p:spPr>
          <a:xfrm>
            <a:off x="10660777" y="153747"/>
            <a:ext cx="1126490" cy="996950"/>
          </a:xfrm>
          <a:prstGeom prst="rect">
            <a:avLst/>
          </a:prstGeom>
        </p:spPr>
      </p:pic>
    </p:spTree>
    <p:extLst>
      <p:ext uri="{BB962C8B-B14F-4D97-AF65-F5344CB8AC3E}">
        <p14:creationId xmlns:p14="http://schemas.microsoft.com/office/powerpoint/2010/main" val="383741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C0C10C-78E3-9FC1-B9AA-6C1AD92E6A98}"/>
              </a:ext>
            </a:extLst>
          </p:cNvPr>
          <p:cNvSpPr txBox="1"/>
          <p:nvPr/>
        </p:nvSpPr>
        <p:spPr>
          <a:xfrm>
            <a:off x="674557" y="502974"/>
            <a:ext cx="10942820" cy="5759718"/>
          </a:xfrm>
          <a:prstGeom prst="rect">
            <a:avLst/>
          </a:prstGeom>
          <a:noFill/>
        </p:spPr>
        <p:txBody>
          <a:bodyPr wrap="square">
            <a:spAutoFit/>
          </a:bodyPr>
          <a:lstStyle/>
          <a:p>
            <a:pPr algn="ctr">
              <a:lnSpc>
                <a:spcPct val="150000"/>
              </a:lnSpc>
              <a:buNone/>
            </a:pPr>
            <a:r>
              <a:rPr lang="en-US" sz="3200" b="1" dirty="0">
                <a:latin typeface="Times New Roman" panose="02020603050405020304" pitchFamily="18" charset="0"/>
                <a:cs typeface="Times New Roman" panose="02020603050405020304" pitchFamily="18" charset="0"/>
              </a:rPr>
              <a:t>OBJECTIVES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 design and implement a real-time multisensory monitoring system that continuously collects vibration, temperature, electrical, and acoustic data from rotating machinery.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 develop an AI-based fault detection model capable of identifying abnormal operating conditions and predicting potential mechanical and electrical failures.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 analyze machine health trends and estimate remaining useful life (RUL) using machine learning techniques for accurate maintenance planning.</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 minimize unplanned downtime and optimize maintenance strategies by enabling condition-based, data-driven decision making in industrial environments.</a:t>
            </a:r>
          </a:p>
        </p:txBody>
      </p:sp>
    </p:spTree>
    <p:extLst>
      <p:ext uri="{BB962C8B-B14F-4D97-AF65-F5344CB8AC3E}">
        <p14:creationId xmlns:p14="http://schemas.microsoft.com/office/powerpoint/2010/main" val="1037590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9119BE-729F-669E-E430-12EE9B5F9CDD}"/>
              </a:ext>
            </a:extLst>
          </p:cNvPr>
          <p:cNvSpPr txBox="1"/>
          <p:nvPr/>
        </p:nvSpPr>
        <p:spPr>
          <a:xfrm>
            <a:off x="704539" y="453192"/>
            <a:ext cx="10927828" cy="5078313"/>
          </a:xfrm>
          <a:prstGeom prst="rect">
            <a:avLst/>
          </a:prstGeom>
          <a:noFill/>
        </p:spPr>
        <p:txBody>
          <a:bodyPr wrap="square">
            <a:spAutoFit/>
          </a:bodyPr>
          <a:lstStyle/>
          <a:p>
            <a:pPr algn="ctr">
              <a:buNone/>
            </a:pPr>
            <a:r>
              <a:rPr lang="en-US" sz="3200" b="1" dirty="0">
                <a:latin typeface="Times New Roman" panose="02020603050405020304" pitchFamily="18" charset="0"/>
                <a:cs typeface="Times New Roman" panose="02020603050405020304" pitchFamily="18" charset="0"/>
              </a:rPr>
              <a:t>ABTRACT</a:t>
            </a:r>
          </a:p>
          <a:p>
            <a:pPr algn="just">
              <a:buNone/>
            </a:pPr>
            <a:r>
              <a:rPr lang="en-US" sz="2400" dirty="0">
                <a:latin typeface="Times New Roman" panose="02020603050405020304" pitchFamily="18" charset="0"/>
                <a:cs typeface="Times New Roman" panose="02020603050405020304" pitchFamily="18" charset="0"/>
              </a:rPr>
              <a:t>Industrial rotating machines such as motors, pumps, and compressors are critical to manufacturing and production systems, but unexpected failures can cause serious downtime, financial loss, and safety risks. Traditional maintenance methods like reactive or scheduled maintenance are not efficient enough to prevent sudden breakdowns. To overcome this problem, this project proposes an </a:t>
            </a:r>
            <a:r>
              <a:rPr lang="en-US" sz="2400" b="1" dirty="0">
                <a:latin typeface="Times New Roman" panose="02020603050405020304" pitchFamily="18" charset="0"/>
                <a:cs typeface="Times New Roman" panose="02020603050405020304" pitchFamily="18" charset="0"/>
              </a:rPr>
              <a:t>AI-Driven Predictive Maintenance System for Rotating Machinery using Multisensory Data</a:t>
            </a:r>
            <a:r>
              <a:rPr lang="en-US" sz="2400" dirty="0">
                <a:latin typeface="Times New Roman" panose="02020603050405020304" pitchFamily="18" charset="0"/>
                <a:cs typeface="Times New Roman" panose="02020603050405020304" pitchFamily="18" charset="0"/>
              </a:rPr>
              <a:t>.</a:t>
            </a:r>
          </a:p>
          <a:p>
            <a:pPr algn="just">
              <a:buNone/>
            </a:pPr>
            <a:r>
              <a:rPr lang="en-US" sz="2400" dirty="0">
                <a:latin typeface="Times New Roman" panose="02020603050405020304" pitchFamily="18" charset="0"/>
                <a:cs typeface="Times New Roman" panose="02020603050405020304" pitchFamily="18" charset="0"/>
              </a:rPr>
              <a:t>In this project, multiple sensors including accelerometer (vibration), current sensor, voltage sensor, sound sensor, and temperature sensor are used to continuously monitor machine health in real time. The collected data is processed using machine learning algorithms to detect abnormal patterns and predict possible faults before failure occurs. The system provides early warning alerts and maintenance predictions, helping industries reduce downtime, improve efficiency, and extend machine life.</a:t>
            </a:r>
          </a:p>
        </p:txBody>
      </p:sp>
    </p:spTree>
    <p:extLst>
      <p:ext uri="{BB962C8B-B14F-4D97-AF65-F5344CB8AC3E}">
        <p14:creationId xmlns:p14="http://schemas.microsoft.com/office/powerpoint/2010/main" val="312705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9928F8-BF6A-04E1-2382-16A0E784263B}"/>
              </a:ext>
            </a:extLst>
          </p:cNvPr>
          <p:cNvSpPr txBox="1"/>
          <p:nvPr/>
        </p:nvSpPr>
        <p:spPr>
          <a:xfrm>
            <a:off x="411551" y="176981"/>
            <a:ext cx="11133573" cy="5909310"/>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SYSTEM REQUIREMENTS</a:t>
            </a:r>
          </a:p>
          <a:p>
            <a:r>
              <a:rPr lang="en-US" sz="2800" b="1"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Arduino (Microcontroller)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Acts as the main controller to collect data from all sensors and manage system operations.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MPU6050 (Accelerometer Sensor)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measure vibration and motion of rotating machinery to detect imbalance or abnormal movement.</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LM35 (Temperature Sensor)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monitor machine temperature and detect overheating conditions.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Current Sensor ( ACS712)</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measure the current consumption of the motor. Helps detect overload and abnormal power usage.</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Voltage Sensor Module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monitor the supply voltage of the machine and identify voltage fluctuations or electrical faults.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ESP8266 (Wi-Fi Module)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transmit sensor data wirelessly to the PC or cloud for AI-based analysis.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Power Supply (5V DC)</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Provides regulated power to Arduino and all connected module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1549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C8A722-A259-5619-A983-82F332FDF3AE}"/>
              </a:ext>
            </a:extLst>
          </p:cNvPr>
          <p:cNvSpPr txBox="1"/>
          <p:nvPr/>
        </p:nvSpPr>
        <p:spPr>
          <a:xfrm>
            <a:off x="501445" y="0"/>
            <a:ext cx="11189110" cy="4342022"/>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SOFTWARE REQUIREMENTS</a:t>
            </a:r>
          </a:p>
          <a:p>
            <a:pPr marL="342900" indent="-342900" algn="just">
              <a:lnSpc>
                <a:spcPct val="150000"/>
              </a:lnSpc>
              <a:buFont typeface="Arial" panose="020B0604020202020204" pitchFamily="34" charset="0"/>
              <a:buChar char="•"/>
            </a:pPr>
            <a:r>
              <a:rPr lang="en-US" altLang="en-GB" sz="2400" b="1" dirty="0">
                <a:latin typeface="Times New Roman" panose="02020603050405020304" pitchFamily="18" charset="0"/>
                <a:cs typeface="Times New Roman" panose="02020603050405020304" pitchFamily="18" charset="0"/>
              </a:rPr>
              <a:t>Python</a:t>
            </a:r>
            <a:r>
              <a:rPr lang="en-US" altLang="en-GB" sz="2400" dirty="0">
                <a:latin typeface="Times New Roman" panose="02020603050405020304" pitchFamily="18" charset="0"/>
                <a:cs typeface="Times New Roman" panose="02020603050405020304" pitchFamily="18" charset="0"/>
              </a:rPr>
              <a:t> – Used to analyze sensor data and perform machine learning prediction.</a:t>
            </a:r>
          </a:p>
          <a:p>
            <a:pPr marL="342900" indent="-342900" algn="just">
              <a:lnSpc>
                <a:spcPct val="150000"/>
              </a:lnSpc>
              <a:buFont typeface="Arial" panose="020B0604020202020204" pitchFamily="34" charset="0"/>
              <a:buChar char="•"/>
            </a:pPr>
            <a:r>
              <a:rPr lang="en-US" altLang="en-GB" sz="2400" b="1" dirty="0">
                <a:latin typeface="Times New Roman" panose="02020603050405020304" pitchFamily="18" charset="0"/>
                <a:cs typeface="Times New Roman" panose="02020603050405020304" pitchFamily="18" charset="0"/>
              </a:rPr>
              <a:t>Arduino IDE </a:t>
            </a:r>
            <a:r>
              <a:rPr lang="en-US" altLang="en-GB" sz="2400" dirty="0">
                <a:latin typeface="Times New Roman" panose="02020603050405020304" pitchFamily="18" charset="0"/>
                <a:cs typeface="Times New Roman" panose="02020603050405020304" pitchFamily="18" charset="0"/>
              </a:rPr>
              <a:t>– Used to program the microcontroller and read data from sensors.</a:t>
            </a:r>
          </a:p>
          <a:p>
            <a:pPr marL="342900" indent="-342900" algn="just">
              <a:lnSpc>
                <a:spcPct val="150000"/>
              </a:lnSpc>
              <a:buFont typeface="Arial" panose="020B0604020202020204" pitchFamily="34" charset="0"/>
              <a:buChar char="•"/>
            </a:pPr>
            <a:r>
              <a:rPr lang="en-US" altLang="en-GB" sz="2400" b="1" dirty="0">
                <a:latin typeface="Times New Roman" panose="02020603050405020304" pitchFamily="18" charset="0"/>
                <a:cs typeface="Times New Roman" panose="02020603050405020304" pitchFamily="18" charset="0"/>
              </a:rPr>
              <a:t>Scikit-Learn / TensorFlow </a:t>
            </a:r>
            <a:r>
              <a:rPr lang="en-US" altLang="en-GB" sz="2400" dirty="0">
                <a:latin typeface="Times New Roman" panose="02020603050405020304" pitchFamily="18" charset="0"/>
                <a:cs typeface="Times New Roman" panose="02020603050405020304" pitchFamily="18" charset="0"/>
              </a:rPr>
              <a:t>– Used to create the machine learning model that predicts machine faults.</a:t>
            </a:r>
          </a:p>
          <a:p>
            <a:pPr marL="342900" indent="-342900" algn="just">
              <a:lnSpc>
                <a:spcPct val="150000"/>
              </a:lnSpc>
              <a:buFont typeface="Arial" panose="020B0604020202020204" pitchFamily="34" charset="0"/>
              <a:buChar char="•"/>
            </a:pPr>
            <a:r>
              <a:rPr lang="en-US" altLang="en-GB" sz="2400" b="1" dirty="0">
                <a:latin typeface="Times New Roman" panose="02020603050405020304" pitchFamily="18" charset="0"/>
                <a:cs typeface="Times New Roman" panose="02020603050405020304" pitchFamily="18" charset="0"/>
              </a:rPr>
              <a:t>NumPy and Pandas </a:t>
            </a:r>
            <a:r>
              <a:rPr lang="en-US" altLang="en-GB" sz="2400" dirty="0">
                <a:latin typeface="Times New Roman" panose="02020603050405020304" pitchFamily="18" charset="0"/>
                <a:cs typeface="Times New Roman" panose="02020603050405020304" pitchFamily="18" charset="0"/>
              </a:rPr>
              <a:t>– Used to process and organize the sensor data.</a:t>
            </a:r>
          </a:p>
          <a:p>
            <a:pPr marL="342900" indent="-342900" algn="just">
              <a:lnSpc>
                <a:spcPct val="150000"/>
              </a:lnSpc>
              <a:buFont typeface="Arial" panose="020B0604020202020204" pitchFamily="34" charset="0"/>
              <a:buChar char="•"/>
            </a:pPr>
            <a:r>
              <a:rPr lang="en-US" altLang="en-GB" sz="2400" b="1" dirty="0">
                <a:latin typeface="Times New Roman" panose="02020603050405020304" pitchFamily="18" charset="0"/>
                <a:cs typeface="Times New Roman" panose="02020603050405020304" pitchFamily="18" charset="0"/>
              </a:rPr>
              <a:t>Matplotlib</a:t>
            </a:r>
            <a:r>
              <a:rPr lang="en-US" altLang="en-GB" sz="2400" dirty="0">
                <a:latin typeface="Times New Roman" panose="02020603050405020304" pitchFamily="18" charset="0"/>
                <a:cs typeface="Times New Roman" panose="02020603050405020304" pitchFamily="18" charset="0"/>
              </a:rPr>
              <a:t> – Used to display graphs of vibration, temperature, and other sensor data.</a:t>
            </a:r>
          </a:p>
          <a:p>
            <a:pPr marL="342900" indent="-342900" algn="just">
              <a:lnSpc>
                <a:spcPct val="150000"/>
              </a:lnSpc>
              <a:buFont typeface="Arial" panose="020B0604020202020204" pitchFamily="34" charset="0"/>
              <a:buChar char="•"/>
            </a:pPr>
            <a:r>
              <a:rPr lang="en-US" altLang="en-GB" sz="2400" b="1" dirty="0">
                <a:latin typeface="Times New Roman" panose="02020603050405020304" pitchFamily="18" charset="0"/>
                <a:cs typeface="Times New Roman" panose="02020603050405020304" pitchFamily="18" charset="0"/>
              </a:rPr>
              <a:t>Windows / Linux </a:t>
            </a:r>
            <a:r>
              <a:rPr lang="en-US" altLang="en-GB" sz="2400" dirty="0">
                <a:latin typeface="Times New Roman" panose="02020603050405020304" pitchFamily="18" charset="0"/>
                <a:cs typeface="Times New Roman" panose="02020603050405020304" pitchFamily="18" charset="0"/>
              </a:rPr>
              <a:t>– Operating system used to run the </a:t>
            </a:r>
            <a:r>
              <a:rPr lang="en-US" altLang="en-GB" sz="2400" dirty="0" err="1">
                <a:latin typeface="Times New Roman" panose="02020603050405020304" pitchFamily="18" charset="0"/>
                <a:cs typeface="Times New Roman" panose="02020603050405020304" pitchFamily="18" charset="0"/>
              </a:rPr>
              <a:t>software.z</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3962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B5B651-B2DE-9C68-CE66-D58346540203}"/>
              </a:ext>
            </a:extLst>
          </p:cNvPr>
          <p:cNvSpPr txBox="1"/>
          <p:nvPr/>
        </p:nvSpPr>
        <p:spPr>
          <a:xfrm>
            <a:off x="599445" y="670"/>
            <a:ext cx="10993110" cy="5570756"/>
          </a:xfrm>
          <a:prstGeom prst="rect">
            <a:avLst/>
          </a:prstGeom>
          <a:noFill/>
        </p:spPr>
        <p:txBody>
          <a:bodyPr wrap="square">
            <a:spAutoFit/>
          </a:bodyPr>
          <a:lstStyle/>
          <a:p>
            <a:pPr algn="ctr">
              <a:buNone/>
            </a:pPr>
            <a:r>
              <a:rPr lang="en-US" sz="3200" b="1" dirty="0">
                <a:latin typeface="Times New Roman" panose="02020603050405020304" pitchFamily="18" charset="0"/>
                <a:cs typeface="Times New Roman" panose="02020603050405020304" pitchFamily="18" charset="0"/>
              </a:rPr>
              <a:t>EXISTING SYSTEM</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Multi-Component Fault Prognostic Framework</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existing system proposes a prognostic framework designed to analyze rotating machinery under multi-component fault conditions. It focuses on modeling complex fault interactions between different machine components to improve failure prediction accuracy.</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Data-Driven Fault Modeling Approach</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primarily relies on historical operational data and condition monitoring signals to develop predictive models. Machine learning techniques are applied to detect degradation patterns and estimate the progression of faults over time.</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Component-Level Health Assessment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framework evaluates the health condition of individual components within rotating machinery, enabling fault diagnosis and prediction at a more granular level rather than treating the machine as a single unit.</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Limited Real-Time Multisensory Integration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Although the system provides advanced prognostic capabilities, it mainly emphasizes fault modeling and prediction algorithms, with limited focus on real-time multisensory data fusion and edge-level implementation for practical industrial deployment.</a:t>
            </a:r>
          </a:p>
        </p:txBody>
      </p:sp>
    </p:spTree>
    <p:extLst>
      <p:ext uri="{BB962C8B-B14F-4D97-AF65-F5344CB8AC3E}">
        <p14:creationId xmlns:p14="http://schemas.microsoft.com/office/powerpoint/2010/main" val="385383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1A9512-4F42-97D3-AFDC-ED18F8CED0B8}"/>
              </a:ext>
            </a:extLst>
          </p:cNvPr>
          <p:cNvSpPr txBox="1"/>
          <p:nvPr/>
        </p:nvSpPr>
        <p:spPr>
          <a:xfrm>
            <a:off x="482184" y="-140"/>
            <a:ext cx="11227632" cy="6784934"/>
          </a:xfrm>
          <a:prstGeom prst="rect">
            <a:avLst/>
          </a:prstGeom>
          <a:noFill/>
        </p:spPr>
        <p:txBody>
          <a:bodyPr wrap="square">
            <a:spAutoFit/>
          </a:bodyPr>
          <a:lstStyle/>
          <a:p>
            <a:pPr algn="ctr">
              <a:lnSpc>
                <a:spcPct val="150000"/>
              </a:lnSpc>
              <a:buNone/>
            </a:pPr>
            <a:r>
              <a:rPr lang="en-US" sz="3200" b="1" dirty="0">
                <a:latin typeface="Times New Roman" panose="02020603050405020304" pitchFamily="18" charset="0"/>
                <a:cs typeface="Times New Roman" panose="02020603050405020304" pitchFamily="18" charset="0"/>
              </a:rPr>
              <a:t>DISADVANTAGES OF EXISTING SYSTEM</a:t>
            </a:r>
          </a:p>
          <a:p>
            <a:pPr marL="34290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High Computational Complexity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prognostic framework involves advanced fault modeling and data processing techniques, which may require high computational resources and powerful hardware, limiting real-time industrial implementation.</a:t>
            </a:r>
          </a:p>
          <a:p>
            <a:pPr marL="34290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Dependence on Large Historical Datasets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heavily relies on extensive historical fault data for accurate prediction. In practical industrial environments, obtaining labeled multi-component fault datasets can be difficult and time-consuming.</a:t>
            </a:r>
          </a:p>
          <a:p>
            <a:pPr marL="34290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Limited Real-Time Edge Deployment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framework focuses mainly on analytical modeling and simulation-based validation, with limited emphasis on real-time edge-based deployment for on-site monitoring and instant alert generation.</a:t>
            </a:r>
          </a:p>
          <a:p>
            <a:pPr marL="34290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Complex Fault Interaction Modeling</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Modeling</a:t>
            </a:r>
            <a:r>
              <a:rPr lang="en-US" sz="2000" dirty="0">
                <a:latin typeface="Times New Roman" panose="02020603050405020304" pitchFamily="18" charset="0"/>
                <a:cs typeface="Times New Roman" panose="02020603050405020304" pitchFamily="18" charset="0"/>
              </a:rPr>
              <a:t> multiple interacting component faults increases system complexity, which may reduce scalability and make practical maintenance decision-making more complicated for operators.</a:t>
            </a:r>
          </a:p>
        </p:txBody>
      </p:sp>
    </p:spTree>
    <p:extLst>
      <p:ext uri="{BB962C8B-B14F-4D97-AF65-F5344CB8AC3E}">
        <p14:creationId xmlns:p14="http://schemas.microsoft.com/office/powerpoint/2010/main" val="554135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9881FA-2B68-A826-B7CF-6B9691B58678}"/>
              </a:ext>
            </a:extLst>
          </p:cNvPr>
          <p:cNvSpPr txBox="1"/>
          <p:nvPr/>
        </p:nvSpPr>
        <p:spPr>
          <a:xfrm>
            <a:off x="467194" y="29593"/>
            <a:ext cx="11257612" cy="5570756"/>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PROPOSED SYSTEM</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AI-Driven Multisensory Monitoring Architecture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We propose an intelligent predictive maintenance system that integrates multiple sensors such as accelerometer (vibration), current sensor, voltage sensor, sound sensor, and temperature sensor to continuously monitor rotating machinery in real time.</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Real-Time Data Acquisition and Fusion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Unlike traditional single-parameter monitoring systems, our proposed system performs multisensory data fusion to improve fault detection accuracy. Combining mechanical, electrical, and thermal parameters provides a more comprehensive understanding of machine health.</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Machine Learning-Based Fault Prediction Model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We propose implementing machine learning algorithms to analyze sensor data, detect anomalies, classify fault types, and estimate the Remaining Useful Life (RUL) of components. This enables early warning alerts before critical failure occurs.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Low-Cost, Scalable, and Industry-Ready Solution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proposed system is designed to be modular, scalable, and suitable for real-time industrial deployment. It reduces computational complexity while providing actionable maintenance insights, helping industries minimize downtime and maintenance costs.</a:t>
            </a:r>
          </a:p>
        </p:txBody>
      </p:sp>
    </p:spTree>
    <p:extLst>
      <p:ext uri="{BB962C8B-B14F-4D97-AF65-F5344CB8AC3E}">
        <p14:creationId xmlns:p14="http://schemas.microsoft.com/office/powerpoint/2010/main" val="2421755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24616-9B3C-3D18-01F0-17CDD2EB7F26}"/>
              </a:ext>
            </a:extLst>
          </p:cNvPr>
          <p:cNvSpPr txBox="1"/>
          <p:nvPr/>
        </p:nvSpPr>
        <p:spPr>
          <a:xfrm>
            <a:off x="206477" y="643769"/>
            <a:ext cx="5889523" cy="655564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Improved Fault Detection Accuracy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Multisensory data fusion (vibration, temperature, current, sound, voltage)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comprehensive machine health analysis</a:t>
            </a: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a:t>
            </a:r>
            <a:r>
              <a:rPr lang="en-IN" sz="2000" b="1" dirty="0">
                <a:latin typeface="Times New Roman" panose="02020603050405020304" pitchFamily="18" charset="0"/>
                <a:cs typeface="Times New Roman" panose="02020603050405020304" pitchFamily="18" charset="0"/>
              </a:rPr>
              <a:t>Early Fault Prediction</a:t>
            </a:r>
          </a:p>
          <a:p>
            <a:r>
              <a:rPr lang="en-US" sz="2000" dirty="0">
                <a:latin typeface="Times New Roman" panose="02020603050405020304" pitchFamily="18" charset="0"/>
                <a:cs typeface="Times New Roman" panose="02020603050405020304" pitchFamily="18" charset="0"/>
              </a:rPr>
              <a:t>Machine Learning enables: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Anomaly detection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Fault classification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Remaining Useful Life (RUL) estimation</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Real-Time Monitoring &amp; Decision Making</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Continuous data acquisition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Instant alerts for abnormal conditions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Reduced Downtime &amp; Maintenance Cost</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Predicts failures before occurrence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Enables proactive maintenance planning</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F684E80-3768-42CE-8321-1CA6C8729015}"/>
              </a:ext>
            </a:extLst>
          </p:cNvPr>
          <p:cNvSpPr txBox="1"/>
          <p:nvPr/>
        </p:nvSpPr>
        <p:spPr>
          <a:xfrm>
            <a:off x="0" y="29498"/>
            <a:ext cx="12192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ADVANTAGES OF PROPOSED SYSTEM</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021EE31-AEC2-E215-EB73-7926E2B4611A}"/>
              </a:ext>
            </a:extLst>
          </p:cNvPr>
          <p:cNvSpPr txBox="1"/>
          <p:nvPr/>
        </p:nvSpPr>
        <p:spPr>
          <a:xfrm>
            <a:off x="6096000" y="698094"/>
            <a:ext cx="5889523" cy="480131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5. Edge + IoT Integration</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Faster processing with </a:t>
            </a:r>
            <a:r>
              <a:rPr lang="en-US" b="1" dirty="0">
                <a:latin typeface="Times New Roman" panose="02020603050405020304" pitchFamily="18" charset="0"/>
                <a:cs typeface="Times New Roman" panose="02020603050405020304" pitchFamily="18" charset="0"/>
              </a:rPr>
              <a:t>low latency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Reduced dependency on cloud systems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Scalable and Modular Design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expand with additional sensors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Suitable for large industrial environments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7. Low-Cost Implementation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affordable hardware (Arduino, sensors)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Industry-friendly and cost-effective solution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8. High Reliability &amp; Efficiency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multiple parameters → better accuracy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overall equipment performance</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908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130912-82B1-6B91-2243-F71000AF8187}"/>
              </a:ext>
            </a:extLst>
          </p:cNvPr>
          <p:cNvSpPr txBox="1"/>
          <p:nvPr/>
        </p:nvSpPr>
        <p:spPr>
          <a:xfrm>
            <a:off x="147484" y="9834"/>
            <a:ext cx="1189703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ARCHITECTURE DIAGRAM</a:t>
            </a:r>
          </a:p>
        </p:txBody>
      </p:sp>
      <p:pic>
        <p:nvPicPr>
          <p:cNvPr id="4" name="Picture 3">
            <a:extLst>
              <a:ext uri="{FF2B5EF4-FFF2-40B4-BE49-F238E27FC236}">
                <a16:creationId xmlns:a16="http://schemas.microsoft.com/office/drawing/2014/main" id="{90FD198F-408B-520C-B211-B913B592A082}"/>
              </a:ext>
            </a:extLst>
          </p:cNvPr>
          <p:cNvPicPr>
            <a:picLocks noChangeAspect="1"/>
          </p:cNvPicPr>
          <p:nvPr/>
        </p:nvPicPr>
        <p:blipFill>
          <a:blip r:embed="rId2">
            <a:extLst>
              <a:ext uri="{28A0092B-C50C-407E-A947-70E740481C1C}">
                <a14:useLocalDpi xmlns:a14="http://schemas.microsoft.com/office/drawing/2010/main" val="0"/>
              </a:ext>
            </a:extLst>
          </a:blip>
          <a:srcRect l="34949" t="9977" r="-790" b="-1272"/>
          <a:stretch>
            <a:fillRect/>
          </a:stretch>
        </p:blipFill>
        <p:spPr>
          <a:xfrm>
            <a:off x="356313" y="594609"/>
            <a:ext cx="11835688" cy="5403068"/>
          </a:xfrm>
          <a:prstGeom prst="rect">
            <a:avLst/>
          </a:prstGeom>
        </p:spPr>
      </p:pic>
    </p:spTree>
    <p:extLst>
      <p:ext uri="{BB962C8B-B14F-4D97-AF65-F5344CB8AC3E}">
        <p14:creationId xmlns:p14="http://schemas.microsoft.com/office/powerpoint/2010/main" val="4197356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9C065C3-0F3C-B23B-B856-85A7BF1B47D7}"/>
              </a:ext>
            </a:extLst>
          </p:cNvPr>
          <p:cNvGrpSpPr/>
          <p:nvPr/>
        </p:nvGrpSpPr>
        <p:grpSpPr>
          <a:xfrm>
            <a:off x="2923082" y="1641988"/>
            <a:ext cx="5827628" cy="4399048"/>
            <a:chOff x="0" y="0"/>
            <a:chExt cx="5631843" cy="3932583"/>
          </a:xfrm>
        </p:grpSpPr>
        <p:sp>
          <p:nvSpPr>
            <p:cNvPr id="3" name="Rectangle 2">
              <a:extLst>
                <a:ext uri="{FF2B5EF4-FFF2-40B4-BE49-F238E27FC236}">
                  <a16:creationId xmlns:a16="http://schemas.microsoft.com/office/drawing/2014/main" id="{90D65D4E-2F08-15B7-B8DA-8078D39CC918}"/>
                </a:ext>
              </a:extLst>
            </p:cNvPr>
            <p:cNvSpPr/>
            <p:nvPr/>
          </p:nvSpPr>
          <p:spPr>
            <a:xfrm>
              <a:off x="2067339" y="723569"/>
              <a:ext cx="1341120" cy="256032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MICROCONTROLLER</a:t>
              </a:r>
              <a:endParaRPr lang="en-IN" sz="1100" kern="100">
                <a:effectLs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786A0D9-92D8-924E-2C04-65117CCEC44A}"/>
                </a:ext>
              </a:extLst>
            </p:cNvPr>
            <p:cNvSpPr/>
            <p:nvPr/>
          </p:nvSpPr>
          <p:spPr>
            <a:xfrm>
              <a:off x="1335819" y="0"/>
              <a:ext cx="2933700" cy="5181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dirty="0">
                  <a:effectLst/>
                  <a:ea typeface="Calibri" panose="020F0502020204030204" pitchFamily="34" charset="0"/>
                  <a:cs typeface="Times New Roman" panose="02020603050405020304" pitchFamily="18" charset="0"/>
                </a:rPr>
                <a:t>POWER SUPPLY FOR ALL UNITS</a:t>
              </a:r>
              <a:endParaRPr lang="en-IN" sz="1100" kern="100" dirty="0">
                <a:effectLst/>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752CD832-A43B-DE6A-1725-ED800B3E80EF}"/>
                </a:ext>
              </a:extLst>
            </p:cNvPr>
            <p:cNvSpPr/>
            <p:nvPr/>
          </p:nvSpPr>
          <p:spPr>
            <a:xfrm>
              <a:off x="47708" y="914400"/>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dirty="0">
                  <a:effectLst/>
                  <a:ea typeface="Calibri" panose="020F0502020204030204" pitchFamily="34" charset="0"/>
                  <a:cs typeface="Times New Roman" panose="02020603050405020304" pitchFamily="18" charset="0"/>
                </a:rPr>
                <a:t>ACCELEROMETER SENSOR</a:t>
              </a:r>
              <a:endParaRPr lang="en-IN" sz="1100" kern="100" dirty="0">
                <a:effectLst/>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87B9602-ECB1-2C0C-E986-5E49838ACB54}"/>
                </a:ext>
              </a:extLst>
            </p:cNvPr>
            <p:cNvSpPr/>
            <p:nvPr/>
          </p:nvSpPr>
          <p:spPr>
            <a:xfrm>
              <a:off x="23854" y="1534602"/>
              <a:ext cx="1592580" cy="4038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CURRENT SENSOR</a:t>
              </a:r>
              <a:endParaRPr lang="en-IN" sz="1100" kern="100">
                <a:effectLst/>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3F18940C-89F1-E7CF-1929-F4E5C9020341}"/>
                </a:ext>
              </a:extLst>
            </p:cNvPr>
            <p:cNvSpPr/>
            <p:nvPr/>
          </p:nvSpPr>
          <p:spPr>
            <a:xfrm>
              <a:off x="39757" y="2146852"/>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SOUND SENSOR</a:t>
              </a:r>
              <a:endParaRPr lang="en-IN" sz="1100" kern="100">
                <a:effectLst/>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DEC4EDBA-4D55-C876-02BF-1E0C0464923B}"/>
                </a:ext>
              </a:extLst>
            </p:cNvPr>
            <p:cNvSpPr/>
            <p:nvPr/>
          </p:nvSpPr>
          <p:spPr>
            <a:xfrm>
              <a:off x="0" y="2751151"/>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TEMPERATURE SENSOR</a:t>
              </a:r>
              <a:endParaRPr lang="en-IN" sz="1100" kern="100">
                <a:effectLst/>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9AA0607A-1064-3EE8-78BB-3ED25BF21F51}"/>
                </a:ext>
              </a:extLst>
            </p:cNvPr>
            <p:cNvSpPr/>
            <p:nvPr/>
          </p:nvSpPr>
          <p:spPr>
            <a:xfrm>
              <a:off x="4023360" y="842838"/>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IOT-ESP8266</a:t>
              </a:r>
              <a:endParaRPr lang="en-IN" sz="1100" kern="100">
                <a:effectLs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74B9D04F-4359-0B86-C5F9-E9E9D9189D73}"/>
                </a:ext>
              </a:extLst>
            </p:cNvPr>
            <p:cNvSpPr/>
            <p:nvPr/>
          </p:nvSpPr>
          <p:spPr>
            <a:xfrm>
              <a:off x="3991555" y="1526651"/>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USB TO UART</a:t>
              </a:r>
              <a:endParaRPr lang="en-IN" sz="1100" kern="100">
                <a:effectLst/>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49C4F8F1-855C-6E0B-5748-E24F064C209D}"/>
                </a:ext>
              </a:extLst>
            </p:cNvPr>
            <p:cNvSpPr/>
            <p:nvPr/>
          </p:nvSpPr>
          <p:spPr>
            <a:xfrm>
              <a:off x="4039263" y="2178658"/>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PC(AI)</a:t>
              </a:r>
              <a:endParaRPr lang="en-IN" sz="1100" kern="100">
                <a:effectLst/>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1FE9A5FF-CA25-65BE-6B8E-7DF432311FDD}"/>
                </a:ext>
              </a:extLst>
            </p:cNvPr>
            <p:cNvSpPr/>
            <p:nvPr/>
          </p:nvSpPr>
          <p:spPr>
            <a:xfrm>
              <a:off x="2003729" y="3490623"/>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LCD DISPLAY</a:t>
              </a:r>
              <a:endParaRPr lang="en-IN" sz="1100" kern="100">
                <a:effectLst/>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613FDDCF-D96C-B609-4D8C-2D37354497B6}"/>
                </a:ext>
              </a:extLst>
            </p:cNvPr>
            <p:cNvSpPr/>
            <p:nvPr/>
          </p:nvSpPr>
          <p:spPr>
            <a:xfrm>
              <a:off x="4023360" y="2878372"/>
              <a:ext cx="1592580" cy="44196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None/>
              </a:pPr>
              <a:r>
                <a:rPr lang="en-US" sz="1100" kern="100">
                  <a:effectLst/>
                  <a:ea typeface="Calibri" panose="020F0502020204030204" pitchFamily="34" charset="0"/>
                  <a:cs typeface="Times New Roman" panose="02020603050405020304" pitchFamily="18" charset="0"/>
                </a:rPr>
                <a:t>VOLTAGE SENSOR</a:t>
              </a:r>
              <a:endParaRPr lang="en-IN" sz="1100" kern="100">
                <a:effectLst/>
                <a:ea typeface="Calibri" panose="020F0502020204030204" pitchFamily="34"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31146C72-CCC1-044B-3EF0-204D46B16DA2}"/>
                </a:ext>
              </a:extLst>
            </p:cNvPr>
            <p:cNvCxnSpPr/>
            <p:nvPr/>
          </p:nvCxnSpPr>
          <p:spPr>
            <a:xfrm>
              <a:off x="1637969" y="1098771"/>
              <a:ext cx="41148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56C0207F-BA38-4646-DF21-256499039E00}"/>
                </a:ext>
              </a:extLst>
            </p:cNvPr>
            <p:cNvCxnSpPr/>
            <p:nvPr/>
          </p:nvCxnSpPr>
          <p:spPr>
            <a:xfrm>
              <a:off x="1630018" y="1774632"/>
              <a:ext cx="41148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5D7DEB09-FB6F-601E-8437-157BD593CB26}"/>
                </a:ext>
              </a:extLst>
            </p:cNvPr>
            <p:cNvCxnSpPr/>
            <p:nvPr/>
          </p:nvCxnSpPr>
          <p:spPr>
            <a:xfrm>
              <a:off x="1637969" y="2370980"/>
              <a:ext cx="41148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1F715E4-B035-8028-A8EF-F8551BBAD17C}"/>
                </a:ext>
              </a:extLst>
            </p:cNvPr>
            <p:cNvCxnSpPr/>
            <p:nvPr/>
          </p:nvCxnSpPr>
          <p:spPr>
            <a:xfrm>
              <a:off x="1630018" y="3038889"/>
              <a:ext cx="41148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5F9F4891-AEF8-579A-6FEC-FE77E74FD4AC}"/>
                </a:ext>
              </a:extLst>
            </p:cNvPr>
            <p:cNvCxnSpPr/>
            <p:nvPr/>
          </p:nvCxnSpPr>
          <p:spPr>
            <a:xfrm flipV="1">
              <a:off x="3434964" y="1006503"/>
              <a:ext cx="58674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D73DEFAB-4160-AC46-63E2-09626EB34A51}"/>
                </a:ext>
              </a:extLst>
            </p:cNvPr>
            <p:cNvCxnSpPr/>
            <p:nvPr/>
          </p:nvCxnSpPr>
          <p:spPr>
            <a:xfrm>
              <a:off x="3403159" y="1742827"/>
              <a:ext cx="57912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5F9C5020-FB23-81DB-ACE4-8AC8D3838FE5}"/>
                </a:ext>
              </a:extLst>
            </p:cNvPr>
            <p:cNvCxnSpPr/>
            <p:nvPr/>
          </p:nvCxnSpPr>
          <p:spPr>
            <a:xfrm flipH="1">
              <a:off x="3430160" y="3015035"/>
              <a:ext cx="586740" cy="76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8A3FC8D4-BF60-EBBF-B41B-5455C069E07C}"/>
                </a:ext>
              </a:extLst>
            </p:cNvPr>
            <p:cNvCxnSpPr/>
            <p:nvPr/>
          </p:nvCxnSpPr>
          <p:spPr>
            <a:xfrm>
              <a:off x="2684228" y="3291840"/>
              <a:ext cx="0" cy="198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85353B0E-B975-5FDB-5232-501EEC23E240}"/>
                </a:ext>
              </a:extLst>
            </p:cNvPr>
            <p:cNvCxnSpPr/>
            <p:nvPr/>
          </p:nvCxnSpPr>
          <p:spPr>
            <a:xfrm>
              <a:off x="2668326" y="516835"/>
              <a:ext cx="0" cy="1981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3" name="TextBox 22">
            <a:extLst>
              <a:ext uri="{FF2B5EF4-FFF2-40B4-BE49-F238E27FC236}">
                <a16:creationId xmlns:a16="http://schemas.microsoft.com/office/drawing/2014/main" id="{750C5351-B1C3-148B-8E74-72CD6F627D46}"/>
              </a:ext>
            </a:extLst>
          </p:cNvPr>
          <p:cNvSpPr txBox="1"/>
          <p:nvPr/>
        </p:nvSpPr>
        <p:spPr>
          <a:xfrm>
            <a:off x="737418" y="88490"/>
            <a:ext cx="1113011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BLOCK DIAGRAM </a:t>
            </a:r>
          </a:p>
        </p:txBody>
      </p:sp>
    </p:spTree>
    <p:extLst>
      <p:ext uri="{BB962C8B-B14F-4D97-AF65-F5344CB8AC3E}">
        <p14:creationId xmlns:p14="http://schemas.microsoft.com/office/powerpoint/2010/main" val="3904077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0E1BB4-03A5-210D-4D3D-FF0021C3C1D2}"/>
              </a:ext>
            </a:extLst>
          </p:cNvPr>
          <p:cNvSpPr txBox="1"/>
          <p:nvPr/>
        </p:nvSpPr>
        <p:spPr>
          <a:xfrm>
            <a:off x="265470" y="93469"/>
            <a:ext cx="11661059" cy="649408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ALGORITHM</a:t>
            </a:r>
            <a:endParaRPr lang="en-IN" sz="3200" b="1" dirty="0">
              <a:latin typeface="Times New Roman" panose="02020603050405020304" pitchFamily="18" charset="0"/>
              <a:cs typeface="Times New Roman" panose="02020603050405020304" pitchFamily="18" charset="0"/>
            </a:endParaRPr>
          </a:p>
          <a:p>
            <a:pPr marL="457200" indent="-457200">
              <a:buAutoNum type="arabicPeriod"/>
            </a:pPr>
            <a:r>
              <a:rPr lang="en-US" sz="2400" b="1" dirty="0">
                <a:latin typeface="Times New Roman" panose="02020603050405020304" pitchFamily="18" charset="0"/>
                <a:cs typeface="Times New Roman" panose="02020603050405020304" pitchFamily="18" charset="0"/>
              </a:rPr>
              <a:t>Core Algorithm: Rule-Based Fault Detection :</a:t>
            </a:r>
          </a:p>
          <a:p>
            <a:r>
              <a:rPr lang="en-US" sz="2400" dirty="0">
                <a:latin typeface="Times New Roman" panose="02020603050405020304" pitchFamily="18" charset="0"/>
                <a:cs typeface="Times New Roman" panose="02020603050405020304" pitchFamily="18" charset="0"/>
              </a:rPr>
              <a:t>The central algorithm evaluates real-time data from various sensors against pre-configured thresholds.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Decision Logic</a:t>
            </a:r>
            <a:r>
              <a:rPr lang="en-US" sz="2400" dirty="0">
                <a:latin typeface="Times New Roman" panose="02020603050405020304" pitchFamily="18" charset="0"/>
                <a:cs typeface="Times New Roman" panose="02020603050405020304" pitchFamily="18" charset="0"/>
              </a:rPr>
              <a:t>: It uses a priority-ordered sequence of "if-else if" conditional statements to classify the machine's state into one of several categories: Normal operation (OK) or one of five fault classes (TILT, HOT, NOISE, OVERLOAD, or VOLT ERR)</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Edge Processing</a:t>
            </a:r>
            <a:r>
              <a:rPr lang="en-US" sz="2400" dirty="0">
                <a:latin typeface="Times New Roman" panose="02020603050405020304" pitchFamily="18" charset="0"/>
                <a:cs typeface="Times New Roman" panose="02020603050405020304" pitchFamily="18" charset="0"/>
              </a:rPr>
              <a:t>: This logic runs locally on the Arduino, allowing for immediate alerting even without an active internet connection.</a:t>
            </a:r>
          </a:p>
          <a:p>
            <a:r>
              <a:rPr lang="en-US" sz="2400" b="1" dirty="0">
                <a:latin typeface="Times New Roman" panose="02020603050405020304" pitchFamily="18" charset="0"/>
                <a:cs typeface="Times New Roman" panose="02020603050405020304" pitchFamily="18" charset="0"/>
              </a:rPr>
              <a:t>2.    </a:t>
            </a:r>
            <a:r>
              <a:rPr lang="en-IN" sz="2400" b="1" dirty="0">
                <a:latin typeface="Times New Roman" panose="02020603050405020304" pitchFamily="18" charset="0"/>
                <a:cs typeface="Times New Roman" panose="02020603050405020304" pitchFamily="18" charset="0"/>
              </a:rPr>
              <a:t>Signal Processing and Scaling</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Before fault detection, the system applies specific calculations to raw sensor data:</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Scaling &amp; Calibration</a:t>
            </a:r>
            <a:r>
              <a:rPr lang="en-US" sz="2400" dirty="0">
                <a:latin typeface="Times New Roman" panose="02020603050405020304" pitchFamily="18" charset="0"/>
                <a:cs typeface="Times New Roman" panose="02020603050405020304" pitchFamily="18" charset="0"/>
              </a:rPr>
              <a:t>: Raw ADC values are converted into physical units (e.g., Celsius for temperature, Amperes for current, and 'g' for acceleration)</a:t>
            </a:r>
            <a:r>
              <a:rPr lang="en-US" sz="2400" b="1"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Euclidean Norm</a:t>
            </a:r>
            <a:r>
              <a:rPr lang="en-US" sz="2400" dirty="0">
                <a:latin typeface="Times New Roman" panose="02020603050405020304" pitchFamily="18" charset="0"/>
                <a:cs typeface="Times New Roman" panose="02020603050405020304" pitchFamily="18" charset="0"/>
              </a:rPr>
              <a:t>: For vibration monitoring, the total acceleration magnitude is computed as the Euclidean norm of the X, Y, and Z axes from the MPU6050 sensor.</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Tilt Calculation</a:t>
            </a:r>
            <a:r>
              <a:rPr lang="en-US" sz="2400" dirty="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atan2()</a:t>
            </a:r>
            <a:r>
              <a:rPr lang="en-US" sz="2400" dirty="0">
                <a:latin typeface="Times New Roman" panose="02020603050405020304" pitchFamily="18" charset="0"/>
                <a:cs typeface="Times New Roman" panose="02020603050405020304" pitchFamily="18" charset="0"/>
              </a:rPr>
              <a:t> function is applied to accelerometer components to derive the tilt angle</a:t>
            </a:r>
          </a:p>
        </p:txBody>
      </p:sp>
    </p:spTree>
    <p:extLst>
      <p:ext uri="{BB962C8B-B14F-4D97-AF65-F5344CB8AC3E}">
        <p14:creationId xmlns:p14="http://schemas.microsoft.com/office/powerpoint/2010/main" val="3763260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4F6C24-8BE3-F60D-CD91-7C0C5B3A5D4A}"/>
              </a:ext>
            </a:extLst>
          </p:cNvPr>
          <p:cNvSpPr txBox="1"/>
          <p:nvPr/>
        </p:nvSpPr>
        <p:spPr>
          <a:xfrm>
            <a:off x="324465" y="314632"/>
            <a:ext cx="11582400" cy="4278094"/>
          </a:xfrm>
          <a:prstGeom prst="rect">
            <a:avLst/>
          </a:prstGeom>
          <a:noFill/>
        </p:spPr>
        <p:txBody>
          <a:bodyPr wrap="square" rtlCol="0">
            <a:spAutoFit/>
          </a:bodyPr>
          <a:lstStyle/>
          <a:p>
            <a:pPr marL="514350" indent="-514350">
              <a:buAutoNum type="arabicPeriod" startAt="3"/>
            </a:pPr>
            <a:r>
              <a:rPr lang="en-IN" sz="2400" b="1" dirty="0">
                <a:latin typeface="Times New Roman" panose="02020603050405020304" pitchFamily="18" charset="0"/>
                <a:cs typeface="Times New Roman" panose="02020603050405020304" pitchFamily="18" charset="0"/>
              </a:rPr>
              <a:t>Decision Tree Classifier :</a:t>
            </a:r>
          </a:p>
          <a:p>
            <a:r>
              <a:rPr lang="en-US" sz="2400" dirty="0">
                <a:latin typeface="Times New Roman" panose="02020603050405020304" pitchFamily="18" charset="0"/>
                <a:cs typeface="Times New Roman" panose="02020603050405020304" pitchFamily="18" charset="0"/>
              </a:rPr>
              <a:t>The system integrates a </a:t>
            </a:r>
            <a:r>
              <a:rPr lang="en-US" sz="2400" b="1" dirty="0">
                <a:latin typeface="Times New Roman" panose="02020603050405020304" pitchFamily="18" charset="0"/>
                <a:cs typeface="Times New Roman" panose="02020603050405020304" pitchFamily="18" charset="0"/>
              </a:rPr>
              <a:t>Decision Tree Classifier</a:t>
            </a:r>
            <a:r>
              <a:rPr lang="en-US" sz="2400" dirty="0">
                <a:latin typeface="Times New Roman" panose="02020603050405020304" pitchFamily="18" charset="0"/>
                <a:cs typeface="Times New Roman" panose="02020603050405020304" pitchFamily="18" charset="0"/>
              </a:rPr>
              <a:t> via the Scikit-Learn library in the Python backend. This algorithm serves as the primary intelligence for high-level classification:</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Model Training:</a:t>
            </a:r>
            <a:r>
              <a:rPr lang="en-US" sz="2400" dirty="0">
                <a:latin typeface="Times New Roman" panose="02020603050405020304" pitchFamily="18" charset="0"/>
                <a:cs typeface="Times New Roman" panose="02020603050405020304" pitchFamily="18" charset="0"/>
              </a:rPr>
              <a:t> The algorithm is trained on a dataset (</a:t>
            </a:r>
            <a:r>
              <a:rPr lang="en-US" dirty="0">
                <a:latin typeface="Times New Roman" panose="02020603050405020304" pitchFamily="18" charset="0"/>
                <a:cs typeface="Times New Roman" panose="02020603050405020304" pitchFamily="18" charset="0"/>
              </a:rPr>
              <a:t>Machine.csv</a:t>
            </a:r>
            <a:r>
              <a:rPr lang="en-US" sz="2400" dirty="0">
                <a:latin typeface="Times New Roman" panose="02020603050405020304" pitchFamily="18" charset="0"/>
                <a:cs typeface="Times New Roman" panose="02020603050405020304" pitchFamily="18" charset="0"/>
              </a:rPr>
              <a:t>) containing historical sensor readings (Tilt, Temperature, Sound, Current, and Voltage) and their corresponding labels.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Binary Classification:</a:t>
            </a:r>
            <a:r>
              <a:rPr lang="en-US" sz="2400" dirty="0">
                <a:latin typeface="Times New Roman" panose="02020603050405020304" pitchFamily="18" charset="0"/>
                <a:cs typeface="Times New Roman" panose="02020603050405020304" pitchFamily="18" charset="0"/>
              </a:rPr>
              <a:t> During real-time operation, the Decision Tree processes the incoming data stream to classify the machine state as either </a:t>
            </a:r>
            <a:r>
              <a:rPr lang="en-US" sz="2400" b="1" dirty="0">
                <a:latin typeface="Times New Roman" panose="02020603050405020304" pitchFamily="18" charset="0"/>
                <a:cs typeface="Times New Roman" panose="02020603050405020304" pitchFamily="18" charset="0"/>
              </a:rPr>
              <a:t>0 (Normal)</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1 (Abnormal)</a:t>
            </a:r>
            <a:r>
              <a:rPr lang="en-IN" sz="2400" b="1"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Automated Response:</a:t>
            </a:r>
            <a:r>
              <a:rPr lang="en-US" sz="2400" dirty="0">
                <a:latin typeface="Times New Roman" panose="02020603050405020304" pitchFamily="18" charset="0"/>
                <a:cs typeface="Times New Roman" panose="02020603050405020304" pitchFamily="18" charset="0"/>
              </a:rPr>
              <a:t> When the classifier detects an abnormal state, it triggers a "1" signal back to the hardware and initiates an automated email alert system using the </a:t>
            </a:r>
            <a:r>
              <a:rPr lang="en-US" dirty="0" err="1">
                <a:latin typeface="Times New Roman" panose="02020603050405020304" pitchFamily="18" charset="0"/>
                <a:cs typeface="Times New Roman" panose="02020603050405020304" pitchFamily="18" charset="0"/>
              </a:rPr>
              <a:t>smtplib</a:t>
            </a:r>
            <a:r>
              <a:rPr lang="en-US" sz="2400" dirty="0">
                <a:latin typeface="Times New Roman" panose="02020603050405020304" pitchFamily="18" charset="0"/>
                <a:cs typeface="Times New Roman" panose="02020603050405020304" pitchFamily="18" charset="0"/>
              </a:rPr>
              <a:t> library.</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9330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AAD869-0964-C3C9-7F74-B281DF535796}"/>
              </a:ext>
            </a:extLst>
          </p:cNvPr>
          <p:cNvSpPr txBox="1"/>
          <p:nvPr/>
        </p:nvSpPr>
        <p:spPr>
          <a:xfrm>
            <a:off x="442452" y="39331"/>
            <a:ext cx="1152340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MODULE</a:t>
            </a:r>
            <a:endParaRPr lang="en-IN" sz="3200" b="1" dirty="0">
              <a:latin typeface="Times New Roman" panose="02020603050405020304" pitchFamily="18" charset="0"/>
              <a:cs typeface="Times New Roman" panose="02020603050405020304" pitchFamily="18" charset="0"/>
            </a:endParaRPr>
          </a:p>
        </p:txBody>
      </p:sp>
      <p:pic>
        <p:nvPicPr>
          <p:cNvPr id="4" name="Picture 3" descr="A circuit board with wires and wires&#10;&#10;AI-generated content may be incorrect.">
            <a:extLst>
              <a:ext uri="{FF2B5EF4-FFF2-40B4-BE49-F238E27FC236}">
                <a16:creationId xmlns:a16="http://schemas.microsoft.com/office/drawing/2014/main" id="{BE387D2D-F141-950E-398D-849583C79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710" y="744963"/>
            <a:ext cx="10692580" cy="5967954"/>
          </a:xfrm>
          <a:prstGeom prst="rect">
            <a:avLst/>
          </a:prstGeom>
        </p:spPr>
      </p:pic>
    </p:spTree>
    <p:extLst>
      <p:ext uri="{BB962C8B-B14F-4D97-AF65-F5344CB8AC3E}">
        <p14:creationId xmlns:p14="http://schemas.microsoft.com/office/powerpoint/2010/main" val="848616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36" y="1006097"/>
            <a:ext cx="10896528" cy="5453697"/>
          </a:xfrm>
        </p:spPr>
        <p:txBody>
          <a:bodyPr>
            <a:noAutofit/>
          </a:bodyPr>
          <a:lstStyle/>
          <a:p>
            <a:pPr marL="0" indent="0">
              <a:buNone/>
            </a:pPr>
            <a:r>
              <a:rPr lang="en-US" sz="3200" b="1" dirty="0">
                <a:latin typeface="Times New Roman" panose="02020603050405020304" pitchFamily="18" charset="0"/>
                <a:cs typeface="Times New Roman" panose="02020603050405020304" pitchFamily="18" charset="0"/>
              </a:rPr>
              <a:t>ARDUINO UNO :</a:t>
            </a:r>
            <a:endParaRPr lang="en-US" sz="32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a:t>
            </a:r>
            <a:r>
              <a:rPr lang="en-US" sz="1800" dirty="0" err="1">
                <a:latin typeface="Times New Roman" panose="02020603050405020304" pitchFamily="18" charset="0"/>
                <a:cs typeface="Times New Roman" panose="02020603050405020304" pitchFamily="18" charset="0"/>
              </a:rPr>
              <a:t>arduino</a:t>
            </a:r>
            <a:r>
              <a:rPr lang="en-US" sz="1800" dirty="0">
                <a:latin typeface="Times New Roman" panose="02020603050405020304" pitchFamily="18" charset="0"/>
                <a:cs typeface="Times New Roman" panose="02020603050405020304" pitchFamily="18" charset="0"/>
              </a:rPr>
              <a:t> uno is an open source board, also referred to as a microcontroller board. </a:t>
            </a:r>
          </a:p>
          <a:p>
            <a:pPr algn="just">
              <a:defRPr/>
            </a:pPr>
            <a:r>
              <a:rPr lang="en-US" sz="1800" dirty="0" err="1">
                <a:latin typeface="Times New Roman" panose="02020603050405020304" pitchFamily="18" charset="0"/>
                <a:cs typeface="Times New Roman" panose="02020603050405020304" pitchFamily="18" charset="0"/>
              </a:rPr>
              <a:t>Arduino</a:t>
            </a:r>
            <a:r>
              <a:rPr lang="en-US" sz="1800" dirty="0">
                <a:latin typeface="Times New Roman" panose="02020603050405020304" pitchFamily="18" charset="0"/>
                <a:cs typeface="Times New Roman" panose="02020603050405020304" pitchFamily="18" charset="0"/>
              </a:rPr>
              <a:t> UNO R3 uses ATmega328P microcontroller as the main control and processing unit of the board. The Atmega328P has 32kB In-System Programmable Flash Memory, 1kB EEPROM, and 2kB internal SRAM.</a:t>
            </a:r>
          </a:p>
          <a:p>
            <a:pPr algn="just">
              <a:defRPr/>
            </a:pPr>
            <a:r>
              <a:rPr lang="en-US" sz="1800" dirty="0">
                <a:latin typeface="Times New Roman" panose="02020603050405020304" pitchFamily="18" charset="0"/>
                <a:cs typeface="Times New Roman" panose="02020603050405020304" pitchFamily="18" charset="0"/>
              </a:rPr>
              <a:t>The UNO board provides access to 14 Digital I/O pins (0-13 in above image). </a:t>
            </a:r>
          </a:p>
          <a:p>
            <a:pPr algn="just">
              <a:defRPr/>
            </a:pPr>
            <a:r>
              <a:rPr lang="en-US" sz="1800" dirty="0">
                <a:latin typeface="Times New Roman" panose="02020603050405020304" pitchFamily="18" charset="0"/>
                <a:cs typeface="Times New Roman" panose="02020603050405020304" pitchFamily="18" charset="0"/>
              </a:rPr>
              <a:t>Of these 14 digital I/O pins, 6 pins can be used as PWM pins(pins 3,5,6,9,10 and 11). </a:t>
            </a:r>
          </a:p>
          <a:p>
            <a:pPr algn="just">
              <a:defRPr/>
            </a:pPr>
            <a:r>
              <a:rPr lang="en-US" sz="1800" dirty="0">
                <a:latin typeface="Times New Roman" panose="02020603050405020304" pitchFamily="18" charset="0"/>
                <a:cs typeface="Times New Roman" panose="02020603050405020304" pitchFamily="18" charset="0"/>
              </a:rPr>
              <a:t>The PWM pins are indicated by ~ before the pin number on the </a:t>
            </a:r>
            <a:r>
              <a:rPr lang="en-US" sz="1800" dirty="0" err="1">
                <a:latin typeface="Times New Roman" panose="02020603050405020304" pitchFamily="18" charset="0"/>
                <a:cs typeface="Times New Roman" panose="02020603050405020304" pitchFamily="18" charset="0"/>
              </a:rPr>
              <a:t>Arduino</a:t>
            </a:r>
            <a:r>
              <a:rPr lang="en-US" sz="1800" dirty="0">
                <a:latin typeface="Times New Roman" panose="02020603050405020304" pitchFamily="18" charset="0"/>
                <a:cs typeface="Times New Roman" panose="02020603050405020304" pitchFamily="18" charset="0"/>
              </a:rPr>
              <a:t> UNO boards (E.g. ~3).</a:t>
            </a:r>
          </a:p>
          <a:p>
            <a:pPr algn="just">
              <a:defRPr/>
            </a:pPr>
            <a:r>
              <a:rPr lang="en-US" sz="1800" dirty="0" err="1">
                <a:latin typeface="Times New Roman" panose="02020603050405020304" pitchFamily="18" charset="0"/>
                <a:cs typeface="Times New Roman" panose="02020603050405020304" pitchFamily="18" charset="0"/>
              </a:rPr>
              <a:t>Digital pins 0 and 1 are the serial communication pins RX and TX respectively.</a:t>
            </a:r>
          </a:p>
          <a:p>
            <a:pPr algn="just">
              <a:defRPr/>
            </a:pPr>
            <a:r>
              <a:rPr lang="en-US" sz="1800" dirty="0">
                <a:latin typeface="Times New Roman" panose="02020603050405020304" pitchFamily="18" charset="0"/>
                <a:cs typeface="Times New Roman" panose="02020603050405020304" pitchFamily="18" charset="0"/>
              </a:rPr>
              <a:t>6 pins are available for use as Analog input pins (A0-A5). </a:t>
            </a:r>
          </a:p>
          <a:p>
            <a:pPr algn="just">
              <a:defRPr/>
            </a:pPr>
            <a:r>
              <a:rPr lang="en-US" sz="1800" dirty="0">
                <a:latin typeface="Times New Roman" panose="02020603050405020304" pitchFamily="18" charset="0"/>
                <a:cs typeface="Times New Roman" panose="02020603050405020304" pitchFamily="18" charset="0"/>
              </a:rPr>
              <a:t>The analog pins can be used as digital I/O pins as well if there is no analog input to be measured.</a:t>
            </a:r>
          </a:p>
          <a:p>
            <a:pPr algn="just">
              <a:defRPr/>
            </a:pPr>
            <a:r>
              <a:rPr lang="en-US" sz="1800" dirty="0">
                <a:latin typeface="Times New Roman" panose="02020603050405020304" pitchFamily="18" charset="0"/>
                <a:cs typeface="Times New Roman" panose="02020603050405020304" pitchFamily="18" charset="0"/>
              </a:rPr>
              <a:t>Its operating 7-20 volts of input voltage</a:t>
            </a:r>
          </a:p>
          <a:p>
            <a:pPr algn="just">
              <a:defRPr/>
            </a:pPr>
            <a:r>
              <a:rPr lang="en-US" sz="1800" dirty="0">
                <a:latin typeface="Times New Roman" panose="02020603050405020304" pitchFamily="18" charset="0"/>
                <a:cs typeface="Times New Roman" panose="02020603050405020304" pitchFamily="18" charset="0"/>
              </a:rPr>
              <a:t>A type-B USB cable is used to connect the </a:t>
            </a:r>
            <a:r>
              <a:rPr lang="en-US" sz="1800" dirty="0" err="1">
                <a:latin typeface="Times New Roman" panose="02020603050405020304" pitchFamily="18" charset="0"/>
                <a:cs typeface="Times New Roman" panose="02020603050405020304" pitchFamily="18" charset="0"/>
              </a:rPr>
              <a:t>Arduino</a:t>
            </a:r>
            <a:r>
              <a:rPr lang="en-US" sz="1800" dirty="0">
                <a:latin typeface="Times New Roman" panose="02020603050405020304" pitchFamily="18" charset="0"/>
                <a:cs typeface="Times New Roman" panose="02020603050405020304" pitchFamily="18" charset="0"/>
              </a:rPr>
              <a:t> board to the computer system. It contains everything needed to support the microcontroller; simply connect it to a computer with a USB cable or power it with a AC-to-DC adapter or battery to get started. </a:t>
            </a:r>
          </a:p>
          <a:p>
            <a:pPr algn="just">
              <a:defRPr/>
            </a:pPr>
            <a:r>
              <a:rPr lang="en-US" sz="1800" dirty="0">
                <a:latin typeface="Times New Roman" panose="02020603050405020304" pitchFamily="18" charset="0"/>
                <a:cs typeface="Times New Roman" panose="02020603050405020304" pitchFamily="18" charset="0"/>
              </a:rPr>
              <a:t>A battery (Fixed voltage, the voltage must be in the range of 7V to 12V). Battery terminals must be connected between VIN and GND pins on the board. </a:t>
            </a:r>
          </a:p>
          <a:p>
            <a:pPr algn="just">
              <a:defRPr/>
            </a:pPr>
            <a:endParaRPr lang="en-US" sz="1643" dirty="0">
              <a:latin typeface="Times New Roman" panose="02020603050405020304" pitchFamily="18" charset="0"/>
              <a:cs typeface="Times New Roman" panose="02020603050405020304" pitchFamily="18" charset="0"/>
            </a:endParaRPr>
          </a:p>
          <a:p>
            <a:pPr algn="just">
              <a:defRPr/>
            </a:pPr>
            <a:endParaRPr lang="en-US" sz="1643"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647736" y="290175"/>
            <a:ext cx="10896528" cy="457078"/>
          </a:xfrm>
        </p:spPr>
        <p:txBody>
          <a:bodyPr>
            <a:normAutofit fontScale="90000"/>
          </a:bodyPr>
          <a:lstStyle/>
          <a:p>
            <a:pPr algn="ctr">
              <a:lnSpc>
                <a:spcPct val="100000"/>
              </a:lnSpc>
            </a:pPr>
            <a:r>
              <a:rPr lang="en-US" sz="3600" b="1" dirty="0">
                <a:latin typeface="Times New Roman" panose="02020603050405020304" pitchFamily="18" charset="0"/>
                <a:cs typeface="Times New Roman" panose="02020603050405020304" pitchFamily="18" charset="0"/>
              </a:rPr>
              <a:t>MODULE DESCRIPTION</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506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644" y="76920"/>
            <a:ext cx="10972800" cy="1084587"/>
          </a:xfrm>
        </p:spPr>
        <p:txBody>
          <a:bodyPr>
            <a:normAutofit/>
          </a:bodyPr>
          <a:lstStyle/>
          <a:p>
            <a:r>
              <a:rPr lang="en-US" sz="3200" b="1" dirty="0">
                <a:latin typeface="Times New Roman" panose="02020603050405020304" pitchFamily="18" charset="0"/>
                <a:cs typeface="Times New Roman" panose="02020603050405020304" pitchFamily="18" charset="0"/>
              </a:rPr>
              <a:t>ARDUINO UNO :</a:t>
            </a:r>
          </a:p>
        </p:txBody>
      </p:sp>
      <p:sp>
        <p:nvSpPr>
          <p:cNvPr id="5" name="Content Placeholder 4"/>
          <p:cNvSpPr>
            <a:spLocks noGrp="1"/>
          </p:cNvSpPr>
          <p:nvPr>
            <p:ph idx="1"/>
          </p:nvPr>
        </p:nvSpPr>
        <p:spPr>
          <a:xfrm>
            <a:off x="550644" y="1161512"/>
            <a:ext cx="4634174" cy="4961816"/>
          </a:xfrm>
        </p:spPr>
        <p:txBody>
          <a:bodyPr>
            <a:normAutofit/>
          </a:bodyPr>
          <a:lstStyle/>
          <a:p>
            <a:pPr algn="just">
              <a:defRPr/>
            </a:pPr>
            <a:r>
              <a:rPr lang="en-US" sz="2000" dirty="0">
                <a:latin typeface="Times New Roman" panose="02020603050405020304" pitchFamily="18" charset="0"/>
                <a:cs typeface="Times New Roman" panose="02020603050405020304" pitchFamily="18" charset="0"/>
              </a:rPr>
              <a:t>In this project  we are used ultrasonic sensor, servo motor and lcd for object detecting, those are connected in  analog pins and digital pins. There are digital and analog pins for input/output. The board has 14 digital and 6 analog pins.</a:t>
            </a:r>
          </a:p>
          <a:p>
            <a:pPr algn="just">
              <a:defRPr/>
            </a:pPr>
            <a:r>
              <a:rPr lang="en-US" sz="2000" dirty="0">
                <a:latin typeface="Times New Roman" panose="02020603050405020304" pitchFamily="18" charset="0"/>
                <a:cs typeface="Times New Roman" panose="02020603050405020304" pitchFamily="18" charset="0"/>
              </a:rPr>
              <a:t>These the two sensors are connected in analog pins(A0,A1) and </a:t>
            </a:r>
            <a:r>
              <a:rPr lang="en-US" sz="2000" dirty="0" err="1">
                <a:latin typeface="Times New Roman" panose="02020603050405020304" pitchFamily="18" charset="0"/>
                <a:cs typeface="Times New Roman" panose="02020603050405020304" pitchFamily="18" charset="0"/>
              </a:rPr>
              <a:t>lcd</a:t>
            </a:r>
            <a:r>
              <a:rPr lang="en-US" sz="2000" dirty="0">
                <a:latin typeface="Times New Roman" panose="02020603050405020304" pitchFamily="18" charset="0"/>
                <a:cs typeface="Times New Roman" panose="02020603050405020304" pitchFamily="18" charset="0"/>
              </a:rPr>
              <a:t> is connected digital pins(4,5,6,7,8,9).</a:t>
            </a:r>
          </a:p>
          <a:p>
            <a:pPr algn="just">
              <a:defRPr/>
            </a:pPr>
            <a:r>
              <a:rPr lang="en-US" sz="2000" dirty="0">
                <a:latin typeface="Times New Roman" panose="02020603050405020304" pitchFamily="18" charset="0"/>
                <a:cs typeface="Times New Roman" panose="02020603050405020304" pitchFamily="18" charset="0"/>
              </a:rPr>
              <a:t>Collected data  from the sensor to send the UART communication and used the RX,TX to transmit the value serial communication. Then the sensor values are displayed in the </a:t>
            </a:r>
            <a:r>
              <a:rPr lang="en-US" sz="2000" dirty="0" err="1">
                <a:latin typeface="Times New Roman" panose="02020603050405020304" pitchFamily="18" charset="0"/>
                <a:cs typeface="Times New Roman" panose="02020603050405020304" pitchFamily="18" charset="0"/>
              </a:rPr>
              <a:t>lcd</a:t>
            </a:r>
            <a:r>
              <a:rPr lang="en-US" sz="2000" dirty="0">
                <a:latin typeface="Times New Roman" panose="02020603050405020304" pitchFamily="18" charset="0"/>
                <a:cs typeface="Times New Roman" panose="02020603050405020304" pitchFamily="18" charset="0"/>
              </a:rPr>
              <a:t>.</a:t>
            </a:r>
          </a:p>
          <a:p>
            <a:endParaRPr lang="en-US" sz="3600" dirty="0">
              <a:latin typeface="Times New Roman" panose="02020603050405020304" pitchFamily="18" charset="0"/>
              <a:cs typeface="Times New Roman" panose="02020603050405020304" pitchFamily="18" charset="0"/>
            </a:endParaRPr>
          </a:p>
        </p:txBody>
      </p:sp>
      <p:pic>
        <p:nvPicPr>
          <p:cNvPr id="6" name="Content Placeholder 5" descr="Main-Components-of-Arduino-UNO.jpg"/>
          <p:cNvPicPr>
            <a:picLocks noChangeAspect="1"/>
          </p:cNvPicPr>
          <p:nvPr/>
        </p:nvPicPr>
        <p:blipFill>
          <a:blip r:embed="rId2"/>
          <a:stretch>
            <a:fillRect/>
          </a:stretch>
        </p:blipFill>
        <p:spPr>
          <a:xfrm>
            <a:off x="5184818" y="1281668"/>
            <a:ext cx="6554936" cy="3728270"/>
          </a:xfrm>
          <a:prstGeom prst="rect">
            <a:avLst/>
          </a:prstGeom>
        </p:spPr>
      </p:pic>
    </p:spTree>
    <p:extLst>
      <p:ext uri="{BB962C8B-B14F-4D97-AF65-F5344CB8AC3E}">
        <p14:creationId xmlns:p14="http://schemas.microsoft.com/office/powerpoint/2010/main" val="2899824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76D8-7042-CA72-1596-17E99362E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CAC9F-A61B-63D6-CC50-7F57D09D8758}"/>
              </a:ext>
            </a:extLst>
          </p:cNvPr>
          <p:cNvSpPr>
            <a:spLocks noGrp="1"/>
          </p:cNvSpPr>
          <p:nvPr>
            <p:ph type="title"/>
          </p:nvPr>
        </p:nvSpPr>
        <p:spPr>
          <a:xfrm>
            <a:off x="838200" y="365126"/>
            <a:ext cx="10515600" cy="1054100"/>
          </a:xfrm>
        </p:spPr>
        <p:txBody>
          <a:bodyPr>
            <a:normAutofit/>
          </a:bodyPr>
          <a:lstStyle/>
          <a:p>
            <a:pPr algn="l"/>
            <a:r>
              <a:rPr lang="en-IN" sz="3200" b="1" dirty="0">
                <a:latin typeface="Times New Roman" panose="02020603050405020304" pitchFamily="18" charset="0"/>
                <a:cs typeface="Times New Roman" panose="02020603050405020304" pitchFamily="18" charset="0"/>
              </a:rPr>
              <a:t>MPU6050-INTRODUCTION :</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CBDE11-F7EA-C00E-F280-580359F449D8}"/>
              </a:ext>
            </a:extLst>
          </p:cNvPr>
          <p:cNvSpPr>
            <a:spLocks noGrp="1"/>
          </p:cNvSpPr>
          <p:nvPr>
            <p:ph idx="1"/>
          </p:nvPr>
        </p:nvSpPr>
        <p:spPr>
          <a:xfrm>
            <a:off x="838200" y="1419226"/>
            <a:ext cx="5395452" cy="4351338"/>
          </a:xfrm>
        </p:spPr>
        <p:txBody>
          <a:bodyPr>
            <a:normAutofit/>
          </a:bodyPr>
          <a:lstStyle/>
          <a:p>
            <a:pPr lvl="0"/>
            <a:r>
              <a:rPr lang="en-IN" sz="2200" dirty="0">
                <a:latin typeface="Times New Roman" panose="02020603050405020304" pitchFamily="18" charset="0"/>
                <a:cs typeface="Times New Roman" panose="02020603050405020304" pitchFamily="18" charset="0"/>
              </a:rPr>
              <a:t>MPU6050 is a 6-axis Motion Tracking Device (3-axis Gyroscope + 3-axis Accelerometer)</a:t>
            </a:r>
          </a:p>
          <a:p>
            <a:pPr lvl="0"/>
            <a:r>
              <a:rPr lang="en-IN" sz="2200" dirty="0">
                <a:latin typeface="Times New Roman" panose="02020603050405020304" pitchFamily="18" charset="0"/>
                <a:cs typeface="Times New Roman" panose="02020603050405020304" pitchFamily="18" charset="0"/>
              </a:rPr>
              <a:t>Includes on-chip Temperature Sensor and Digital Motion Processor (DMP)</a:t>
            </a:r>
          </a:p>
          <a:p>
            <a:pPr lvl="0"/>
            <a:r>
              <a:rPr lang="en-IN" sz="2200" dirty="0">
                <a:latin typeface="Times New Roman" panose="02020603050405020304" pitchFamily="18" charset="0"/>
                <a:cs typeface="Times New Roman" panose="02020603050405020304" pitchFamily="18" charset="0"/>
              </a:rPr>
              <a:t>Communicates via I2C bus (up to 400kHz)</a:t>
            </a:r>
          </a:p>
          <a:p>
            <a:pPr lvl="0"/>
            <a:r>
              <a:rPr lang="en-IN" sz="2200" dirty="0">
                <a:latin typeface="Times New Roman" panose="02020603050405020304" pitchFamily="18" charset="0"/>
                <a:cs typeface="Times New Roman" panose="02020603050405020304" pitchFamily="18" charset="0"/>
              </a:rPr>
              <a:t>Supports Auxiliary I2C for additional sensors (e.g., Magnetometer → 9-axis fusion)</a:t>
            </a:r>
          </a:p>
          <a:p>
            <a:pPr lvl="0"/>
            <a:r>
              <a:rPr lang="en-IN" sz="2200" dirty="0">
                <a:latin typeface="Times New Roman" panose="02020603050405020304" pitchFamily="18" charset="0"/>
                <a:cs typeface="Times New Roman" panose="02020603050405020304" pitchFamily="18" charset="0"/>
              </a:rPr>
              <a:t>Applications: Motion detection, gesture recognition, fall detection, robotics, IoT health monitoring</a:t>
            </a:r>
            <a:endParaRPr lang="en-IN" sz="2200" dirty="0"/>
          </a:p>
        </p:txBody>
      </p:sp>
      <p:pic>
        <p:nvPicPr>
          <p:cNvPr id="4" name="Picture 3" descr="MPU6050 Module">
            <a:extLst>
              <a:ext uri="{FF2B5EF4-FFF2-40B4-BE49-F238E27FC236}">
                <a16:creationId xmlns:a16="http://schemas.microsoft.com/office/drawing/2014/main" id="{02565ECE-2E66-FA41-F038-8BCE6F1286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51125" y="5389544"/>
            <a:ext cx="1900082" cy="1626776"/>
          </a:xfrm>
          <a:prstGeom prst="rect">
            <a:avLst/>
          </a:prstGeom>
          <a:noFill/>
          <a:ln>
            <a:noFill/>
          </a:ln>
        </p:spPr>
      </p:pic>
      <p:sp>
        <p:nvSpPr>
          <p:cNvPr id="5" name="TextBox 4">
            <a:extLst>
              <a:ext uri="{FF2B5EF4-FFF2-40B4-BE49-F238E27FC236}">
                <a16:creationId xmlns:a16="http://schemas.microsoft.com/office/drawing/2014/main" id="{1D751EA7-F480-0467-9FFF-923E7586DAD5}"/>
              </a:ext>
            </a:extLst>
          </p:cNvPr>
          <p:cNvSpPr txBox="1"/>
          <p:nvPr/>
        </p:nvSpPr>
        <p:spPr>
          <a:xfrm>
            <a:off x="6233653" y="1419226"/>
            <a:ext cx="5395452" cy="406265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Working Principle &amp; Pinout :</a:t>
            </a:r>
          </a:p>
          <a:p>
            <a:r>
              <a:rPr lang="en-IN" b="1" dirty="0">
                <a:latin typeface="Times New Roman" panose="02020603050405020304" pitchFamily="18" charset="0"/>
                <a:cs typeface="Times New Roman" panose="02020603050405020304" pitchFamily="18" charset="0"/>
              </a:rPr>
              <a:t>Gyroscope (MEMS)</a:t>
            </a:r>
          </a:p>
          <a:p>
            <a:pPr lvl="0"/>
            <a:r>
              <a:rPr lang="en-IN" dirty="0">
                <a:latin typeface="Times New Roman" panose="02020603050405020304" pitchFamily="18" charset="0"/>
                <a:cs typeface="Times New Roman" panose="02020603050405020304" pitchFamily="18" charset="0"/>
              </a:rPr>
              <a:t>Detects rotational velocity (X, Y, Z axes) using Coriolis Effect</a:t>
            </a:r>
          </a:p>
          <a:p>
            <a:pPr lvl="0"/>
            <a:r>
              <a:rPr lang="en-IN" dirty="0">
                <a:latin typeface="Times New Roman" panose="02020603050405020304" pitchFamily="18" charset="0"/>
                <a:cs typeface="Times New Roman" panose="02020603050405020304" pitchFamily="18" charset="0"/>
              </a:rPr>
              <a:t>Range: ±250, ±500, ±1000, ±2000 </a:t>
            </a:r>
            <a:r>
              <a:rPr lang="en-IN" dirty="0" err="1">
                <a:latin typeface="Times New Roman" panose="02020603050405020304" pitchFamily="18" charset="0"/>
                <a:cs typeface="Times New Roman" panose="02020603050405020304" pitchFamily="18" charset="0"/>
              </a:rPr>
              <a:t>dps</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Accelerometer (MEMS)</a:t>
            </a:r>
          </a:p>
          <a:p>
            <a:r>
              <a:rPr lang="en-IN" dirty="0">
                <a:latin typeface="Times New Roman" panose="02020603050405020304" pitchFamily="18" charset="0"/>
                <a:cs typeface="Times New Roman" panose="02020603050405020304" pitchFamily="18" charset="0"/>
              </a:rPr>
              <a:t>Detects tilt/inclination &amp; acceleration (X, Y, Z axes)</a:t>
            </a:r>
          </a:p>
          <a:p>
            <a:r>
              <a:rPr lang="en-IN" dirty="0">
                <a:latin typeface="Times New Roman" panose="02020603050405020304" pitchFamily="18" charset="0"/>
                <a:cs typeface="Times New Roman" panose="02020603050405020304" pitchFamily="18" charset="0"/>
              </a:rPr>
              <a:t>Range: ±2g, ±4g, ±8g, ±16g</a:t>
            </a:r>
          </a:p>
          <a:p>
            <a:r>
              <a:rPr lang="en-IN" b="1" dirty="0">
                <a:latin typeface="Times New Roman" panose="02020603050405020304" pitchFamily="18" charset="0"/>
                <a:cs typeface="Times New Roman" panose="02020603050405020304" pitchFamily="18" charset="0"/>
              </a:rPr>
              <a:t>DMP:</a:t>
            </a:r>
          </a:p>
          <a:p>
            <a:r>
              <a:rPr lang="en-IN" dirty="0">
                <a:latin typeface="Times New Roman" panose="02020603050405020304" pitchFamily="18" charset="0"/>
                <a:cs typeface="Times New Roman" panose="02020603050405020304" pitchFamily="18" charset="0"/>
              </a:rPr>
              <a:t>Fuses motion data → roll, pitch, yaw, orientation</a:t>
            </a:r>
          </a:p>
          <a:p>
            <a:r>
              <a:rPr lang="en-IN" b="1" dirty="0">
                <a:latin typeface="Times New Roman" panose="02020603050405020304" pitchFamily="18" charset="0"/>
                <a:cs typeface="Times New Roman" panose="02020603050405020304" pitchFamily="18" charset="0"/>
              </a:rPr>
              <a:t>Pinout:</a:t>
            </a:r>
          </a:p>
          <a:p>
            <a:r>
              <a:rPr lang="en-IN" dirty="0">
                <a:latin typeface="Times New Roman" panose="02020603050405020304" pitchFamily="18" charset="0"/>
                <a:cs typeface="Times New Roman" panose="02020603050405020304" pitchFamily="18" charset="0"/>
              </a:rPr>
              <a:t>VCC (3.3–5V), GND, SDA, SCL, INT, AD0 (I2C address select), XDA, XCL</a:t>
            </a: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5740E25-094F-DB32-557A-A516332328D2}"/>
              </a:ext>
            </a:extLst>
          </p:cNvPr>
          <p:cNvPicPr>
            <a:picLocks noChangeAspect="1"/>
          </p:cNvPicPr>
          <p:nvPr/>
        </p:nvPicPr>
        <p:blipFill>
          <a:blip r:embed="rId3"/>
          <a:stretch>
            <a:fillRect/>
          </a:stretch>
        </p:blipFill>
        <p:spPr>
          <a:xfrm>
            <a:off x="9175405" y="4899885"/>
            <a:ext cx="1699072" cy="1730958"/>
          </a:xfrm>
          <a:prstGeom prst="rect">
            <a:avLst/>
          </a:prstGeom>
        </p:spPr>
      </p:pic>
    </p:spTree>
    <p:extLst>
      <p:ext uri="{BB962C8B-B14F-4D97-AF65-F5344CB8AC3E}">
        <p14:creationId xmlns:p14="http://schemas.microsoft.com/office/powerpoint/2010/main" val="2125660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215" y="489529"/>
            <a:ext cx="11059186" cy="683140"/>
          </a:xfrm>
        </p:spPr>
        <p:txBody>
          <a:bodyPr>
            <a:normAutofit/>
          </a:bodyPr>
          <a:lstStyle/>
          <a:p>
            <a:r>
              <a:rPr lang="en-US" sz="3200" b="1" dirty="0">
                <a:latin typeface="Times New Roman" panose="02020603050405020304" pitchFamily="18" charset="0"/>
                <a:cs typeface="Times New Roman" panose="02020603050405020304" pitchFamily="18" charset="0"/>
              </a:rPr>
              <a:t>IOT-ESP 8266 :</a:t>
            </a:r>
          </a:p>
        </p:txBody>
      </p:sp>
      <p:sp>
        <p:nvSpPr>
          <p:cNvPr id="3" name="Content Placeholder 2"/>
          <p:cNvSpPr>
            <a:spLocks noGrp="1"/>
          </p:cNvSpPr>
          <p:nvPr>
            <p:ph idx="1"/>
          </p:nvPr>
        </p:nvSpPr>
        <p:spPr>
          <a:xfrm>
            <a:off x="523214" y="1101903"/>
            <a:ext cx="6613856" cy="5266568"/>
          </a:xfrm>
        </p:spPr>
        <p:txBody>
          <a:bodyPr>
            <a:normAutofit/>
          </a:bodyPr>
          <a:lstStyle/>
          <a:p>
            <a:pPr marL="313529" indent="-219471" algn="just">
              <a:spcBef>
                <a:spcPts val="343"/>
              </a:spcBef>
              <a:buClr>
                <a:schemeClr val="accent1"/>
              </a:buClr>
              <a:buSzPct val="68000"/>
              <a:buFont typeface="Wingdings" pitchFamily="2" charset="2"/>
              <a:buChar char="Ø"/>
              <a:defRPr/>
            </a:pPr>
            <a:r>
              <a:rPr lang="en-US" sz="1543" dirty="0">
                <a:latin typeface="Times New Roman" panose="02020603050405020304" pitchFamily="18" charset="0"/>
                <a:cs typeface="Times New Roman" pitchFamily="18" charset="0"/>
              </a:rPr>
              <a:t>The ESP8266 </a:t>
            </a:r>
            <a:r>
              <a:rPr lang="en-US" sz="1543" dirty="0" err="1">
                <a:latin typeface="Times New Roman" panose="02020603050405020304" pitchFamily="18" charset="0"/>
                <a:cs typeface="Times New Roman" pitchFamily="18" charset="0"/>
              </a:rPr>
              <a:t>NodeMCU</a:t>
            </a:r>
            <a:r>
              <a:rPr lang="en-US" sz="1543" dirty="0">
                <a:latin typeface="Times New Roman" pitchFamily="18" charset="0"/>
                <a:cs typeface="Times New Roman" pitchFamily="18" charset="0"/>
              </a:rPr>
              <a:t> micro-controller board is used as a central unit of this system.</a:t>
            </a:r>
          </a:p>
          <a:p>
            <a:pPr marL="313529" indent="-219471" algn="just">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The </a:t>
            </a:r>
            <a:r>
              <a:rPr lang="en-US" sz="1543" dirty="0" err="1">
                <a:latin typeface="Times New Roman" panose="02020603050405020304" pitchFamily="18" charset="0"/>
                <a:cs typeface="Times New Roman" pitchFamily="18" charset="0"/>
              </a:rPr>
              <a:t>NodeMCU</a:t>
            </a:r>
            <a:r>
              <a:rPr lang="en-US" sz="1543" dirty="0">
                <a:latin typeface="Times New Roman" panose="02020603050405020304" pitchFamily="18" charset="0"/>
                <a:cs typeface="Times New Roman" pitchFamily="18" charset="0"/>
              </a:rPr>
              <a:t>(ESP8266) is </a:t>
            </a:r>
            <a:r>
              <a:rPr lang="en-US" sz="1543" dirty="0" err="1">
                <a:latin typeface="Times New Roman" panose="02020603050405020304" pitchFamily="18" charset="0"/>
                <a:cs typeface="Times New Roman" pitchFamily="18" charset="0"/>
              </a:rPr>
              <a:t>wifi</a:t>
            </a:r>
            <a:r>
              <a:rPr lang="en-US" sz="1543" dirty="0">
                <a:latin typeface="Times New Roman" pitchFamily="18" charset="0"/>
                <a:cs typeface="Times New Roman" pitchFamily="18" charset="0"/>
              </a:rPr>
              <a:t> enabled Microcontroller with an open-source platform. </a:t>
            </a:r>
          </a:p>
          <a:p>
            <a:pPr marL="313529" indent="-219471" algn="just">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Both hardware and software are framed in such a way that it is a very inexpensive Wi-Fi </a:t>
            </a:r>
            <a:r>
              <a:rPr lang="en-US" sz="1543" dirty="0" err="1">
                <a:latin typeface="Times New Roman" panose="02020603050405020304" pitchFamily="18" charset="0"/>
                <a:cs typeface="Times New Roman" pitchFamily="18" charset="0"/>
              </a:rPr>
              <a:t>SoC</a:t>
            </a:r>
            <a:r>
              <a:rPr lang="en-US" sz="1543" dirty="0">
                <a:latin typeface="Times New Roman" panose="02020603050405020304" pitchFamily="18" charset="0"/>
                <a:cs typeface="Times New Roman" pitchFamily="18" charset="0"/>
              </a:rPr>
              <a:t> (system on a chip) i.e. ESP8266. </a:t>
            </a:r>
          </a:p>
          <a:p>
            <a:pPr marL="313529" indent="-219471" algn="just">
              <a:spcBef>
                <a:spcPts val="343"/>
              </a:spcBef>
              <a:buClr>
                <a:schemeClr val="accent1"/>
              </a:buClr>
              <a:buSzPct val="68000"/>
              <a:buFont typeface="Wingdings" pitchFamily="2" charset="2"/>
              <a:buChar char="Ø"/>
              <a:defRPr/>
            </a:pPr>
            <a:r>
              <a:rPr lang="en-US" sz="1543" dirty="0">
                <a:latin typeface="Times New Roman" panose="02020603050405020304" pitchFamily="18" charset="0"/>
                <a:cs typeface="Times New Roman" pitchFamily="18" charset="0"/>
              </a:rPr>
              <a:t>It is designed from </a:t>
            </a:r>
            <a:r>
              <a:rPr lang="en-US" sz="1543" dirty="0" err="1">
                <a:latin typeface="Times New Roman" panose="02020603050405020304" pitchFamily="18" charset="0"/>
                <a:cs typeface="Times New Roman" pitchFamily="18" charset="0"/>
              </a:rPr>
              <a:t>Espressif</a:t>
            </a:r>
            <a:r>
              <a:rPr lang="en-US" sz="1543" dirty="0">
                <a:latin typeface="Times New Roman" pitchFamily="18" charset="0"/>
                <a:cs typeface="Times New Roman" pitchFamily="18" charset="0"/>
              </a:rPr>
              <a:t> systems.</a:t>
            </a:r>
          </a:p>
          <a:p>
            <a:pPr marL="313529" indent="-219471" algn="just">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 It is an excellent choice for </a:t>
            </a:r>
            <a:r>
              <a:rPr lang="en-US" sz="1543" dirty="0" err="1">
                <a:latin typeface="Times New Roman" panose="02020603050405020304" pitchFamily="18" charset="0"/>
                <a:cs typeface="Times New Roman" pitchFamily="18" charset="0"/>
              </a:rPr>
              <a:t>IoT</a:t>
            </a:r>
            <a:r>
              <a:rPr lang="en-US" sz="1543" dirty="0">
                <a:latin typeface="Times New Roman" pitchFamily="18" charset="0"/>
                <a:cs typeface="Times New Roman" pitchFamily="18" charset="0"/>
              </a:rPr>
              <a:t> projects because of its low cost and easy interfacing with various parametric sensors and other devices.</a:t>
            </a:r>
          </a:p>
          <a:p>
            <a:pPr marL="313529" indent="-219471" algn="just">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 It can be programmed in both LUA scripts and </a:t>
            </a:r>
            <a:r>
              <a:rPr lang="en-US" sz="1543" dirty="0" err="1">
                <a:latin typeface="Times New Roman" panose="02020603050405020304" pitchFamily="18" charset="0"/>
                <a:cs typeface="Times New Roman" pitchFamily="18" charset="0"/>
              </a:rPr>
              <a:t>Arduino</a:t>
            </a:r>
            <a:r>
              <a:rPr lang="en-US" sz="1543" dirty="0">
                <a:latin typeface="Times New Roman" pitchFamily="18" charset="0"/>
                <a:cs typeface="Times New Roman" pitchFamily="18" charset="0"/>
              </a:rPr>
              <a:t> IDE software. </a:t>
            </a:r>
          </a:p>
          <a:p>
            <a:pPr marL="313529" indent="-219471" algn="just">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It can be easily communicated with the </a:t>
            </a:r>
            <a:r>
              <a:rPr lang="en-US" sz="1543" dirty="0" err="1">
                <a:latin typeface="Times New Roman" panose="02020603050405020304" pitchFamily="18" charset="0"/>
                <a:cs typeface="Times New Roman" pitchFamily="18" charset="0"/>
              </a:rPr>
              <a:t>IoT</a:t>
            </a:r>
            <a:r>
              <a:rPr lang="en-US" sz="1543" dirty="0">
                <a:latin typeface="Times New Roman" pitchFamily="18" charset="0"/>
                <a:cs typeface="Times New Roman" pitchFamily="18" charset="0"/>
              </a:rPr>
              <a:t> platform based on the HTTP protocol.</a:t>
            </a:r>
          </a:p>
          <a:p>
            <a:pPr marL="313529" indent="-219471" algn="just">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Interfaced with cloud storage using API keys (Application Program Interface) therefore easily accessed by the user. </a:t>
            </a:r>
          </a:p>
          <a:p>
            <a:pPr marL="313529" indent="-219471" algn="just">
              <a:spcBef>
                <a:spcPts val="343"/>
              </a:spcBef>
              <a:buClr>
                <a:schemeClr val="accent1"/>
              </a:buClr>
              <a:buSzPct val="68000"/>
              <a:buFont typeface="Wingdings" pitchFamily="2" charset="2"/>
              <a:buChar char="Ø"/>
              <a:defRPr/>
            </a:pPr>
            <a:r>
              <a:rPr lang="en-US" sz="1543" dirty="0" err="1">
                <a:latin typeface="Times New Roman" panose="02020603050405020304" pitchFamily="18" charset="0"/>
                <a:cs typeface="Times New Roman" pitchFamily="18" charset="0"/>
              </a:rPr>
              <a:t>NodeMCU</a:t>
            </a:r>
            <a:r>
              <a:rPr lang="en-US" sz="1543" dirty="0">
                <a:latin typeface="Times New Roman" panose="02020603050405020304" pitchFamily="18" charset="0"/>
                <a:cs typeface="Times New Roman" pitchFamily="18" charset="0"/>
              </a:rPr>
              <a:t> Dev Kit has </a:t>
            </a:r>
            <a:r>
              <a:rPr lang="en-US" sz="1543" dirty="0" err="1">
                <a:latin typeface="Times New Roman" panose="02020603050405020304" pitchFamily="18" charset="0"/>
                <a:cs typeface="Times New Roman" pitchFamily="18" charset="0"/>
              </a:rPr>
              <a:t>Arduino</a:t>
            </a:r>
            <a:r>
              <a:rPr lang="en-US" sz="1543" dirty="0">
                <a:latin typeface="Times New Roman" panose="02020603050405020304" pitchFamily="18" charset="0"/>
                <a:cs typeface="Times New Roman" pitchFamily="18" charset="0"/>
              </a:rPr>
              <a:t> like Analog (i.e. A0) and Digital (D0-D8) pins on its board.</a:t>
            </a:r>
          </a:p>
          <a:p>
            <a:pPr marL="313529" indent="-219471" algn="just">
              <a:spcBef>
                <a:spcPts val="343"/>
              </a:spcBef>
              <a:buClr>
                <a:schemeClr val="accent1"/>
              </a:buClr>
              <a:buSzPct val="68000"/>
              <a:buFont typeface="Wingdings" pitchFamily="2" charset="2"/>
              <a:buChar char="Ø"/>
              <a:defRPr/>
            </a:pPr>
            <a:r>
              <a:rPr lang="en-US" sz="1543" dirty="0">
                <a:latin typeface="Times New Roman" panose="02020603050405020304" pitchFamily="18" charset="0"/>
                <a:cs typeface="Times New Roman" pitchFamily="18" charset="0"/>
              </a:rPr>
              <a:t>It supports serial communication protocols i.e. UART, SPI, I2C, etc. </a:t>
            </a:r>
          </a:p>
          <a:p>
            <a:pPr marL="313529" indent="-219471" algn="just">
              <a:spcBef>
                <a:spcPts val="343"/>
              </a:spcBef>
              <a:buClr>
                <a:schemeClr val="accent1"/>
              </a:buClr>
              <a:buSzPct val="68000"/>
              <a:buFont typeface="Wingdings" pitchFamily="2" charset="2"/>
              <a:buChar char="Ø"/>
              <a:defRPr/>
            </a:pPr>
            <a:r>
              <a:rPr lang="en-US" sz="1543" dirty="0">
                <a:latin typeface="Times New Roman" panose="02020603050405020304" pitchFamily="18" charset="0"/>
                <a:cs typeface="Times New Roman" pitchFamily="18" charset="0"/>
              </a:rPr>
              <a:t>Using such serial protocols we can connect it with serial devices like I2C enabled LCD display, Magnetometer HMC5883, MPU-6050 Gyro meter + Accelerometer, RTC chips, GPS modules, touch screen displays, SD cards, etc.</a:t>
            </a:r>
          </a:p>
          <a:p>
            <a:pPr>
              <a:buNone/>
            </a:pPr>
            <a:r>
              <a:rPr lang="en-US" sz="1543" b="1" dirty="0">
                <a:latin typeface="Times New Roman" panose="02020603050405020304" pitchFamily="18" charset="0"/>
                <a:cs typeface="Times New Roman" panose="02020603050405020304" pitchFamily="18" charset="0"/>
              </a:rPr>
              <a:t> </a:t>
            </a:r>
            <a:endParaRPr lang="en-US" sz="1543" dirty="0">
              <a:latin typeface="Times New Roman" panose="02020603050405020304" pitchFamily="18" charset="0"/>
              <a:cs typeface="Times New Roman" panose="02020603050405020304"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p:txBody>
      </p:sp>
      <p:sp>
        <p:nvSpPr>
          <p:cNvPr id="4" name="Content Placeholder 5"/>
          <p:cNvSpPr txBox="1">
            <a:spLocks/>
          </p:cNvSpPr>
          <p:nvPr/>
        </p:nvSpPr>
        <p:spPr>
          <a:xfrm>
            <a:off x="7320788" y="1285621"/>
            <a:ext cx="4286758" cy="4225519"/>
          </a:xfrm>
          <a:prstGeom prst="rect">
            <a:avLst/>
          </a:prstGeom>
        </p:spPr>
        <p:txBody>
          <a:bodyPr/>
          <a:lstStyle/>
          <a:p>
            <a:pPr marL="313529" indent="-219471" algn="just">
              <a:lnSpc>
                <a:spcPct val="90000"/>
              </a:lnSpc>
              <a:spcBef>
                <a:spcPts val="343"/>
              </a:spcBef>
              <a:buClr>
                <a:schemeClr val="accent1"/>
              </a:buClr>
              <a:buSzPct val="68000"/>
              <a:defRPr/>
            </a:pPr>
            <a:r>
              <a:rPr lang="en-US" sz="1543" b="1" dirty="0">
                <a:latin typeface="Times New Roman" panose="02020603050405020304" pitchFamily="18" charset="0"/>
                <a:cs typeface="Times New Roman" pitchFamily="18" charset="0"/>
              </a:rPr>
              <a:t>Features</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anose="02020603050405020304" pitchFamily="18" charset="0"/>
                <a:cs typeface="Times New Roman" pitchFamily="18" charset="0"/>
              </a:rPr>
              <a:t>Microcontroller: </a:t>
            </a:r>
            <a:r>
              <a:rPr lang="en-US" sz="1543" dirty="0" err="1">
                <a:latin typeface="Times New Roman" panose="02020603050405020304" pitchFamily="18" charset="0"/>
                <a:cs typeface="Times New Roman" pitchFamily="18" charset="0"/>
              </a:rPr>
              <a:t>Tensilica</a:t>
            </a:r>
            <a:r>
              <a:rPr lang="en-US" sz="1543" dirty="0">
                <a:latin typeface="Times New Roman" panose="02020603050405020304" pitchFamily="18" charset="0"/>
                <a:cs typeface="Times New Roman" pitchFamily="18" charset="0"/>
              </a:rPr>
              <a:t> 32-bit RISC CPU </a:t>
            </a:r>
            <a:r>
              <a:rPr lang="en-US" sz="1543" dirty="0" err="1">
                <a:latin typeface="Times New Roman" panose="02020603050405020304" pitchFamily="18" charset="0"/>
                <a:cs typeface="Times New Roman" pitchFamily="18" charset="0"/>
              </a:rPr>
              <a:t>Xtensa</a:t>
            </a:r>
            <a:r>
              <a:rPr lang="en-US" sz="1543" dirty="0">
                <a:latin typeface="Times New Roman" pitchFamily="18" charset="0"/>
                <a:cs typeface="Times New Roman" pitchFamily="18" charset="0"/>
              </a:rPr>
              <a:t> LX106</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Operating Voltage: 3.3V</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Input Voltage: 7-12V</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Digital I/O Pins (DIO): 16</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Analog Input Pins (ADC): 1</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UARTs: 1</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SPIs: 1</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I2Cs: 1</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Flash Memory: 4 MB</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SRAM: 64 KB</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Clock Speed: 80 MHz</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USB-TTL based on CP2102 is included onboard, Enabling Plug n Play</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PCB Antenna</a:t>
            </a:r>
          </a:p>
          <a:p>
            <a:pPr marL="313529" indent="-219471" algn="just">
              <a:lnSpc>
                <a:spcPct val="90000"/>
              </a:lnSpc>
              <a:spcBef>
                <a:spcPts val="343"/>
              </a:spcBef>
              <a:buClr>
                <a:schemeClr val="accent1"/>
              </a:buClr>
              <a:buSzPct val="68000"/>
              <a:buFont typeface="Wingdings" pitchFamily="2" charset="2"/>
              <a:buChar char="Ø"/>
              <a:defRPr/>
            </a:pPr>
            <a:r>
              <a:rPr lang="en-US" sz="1543" dirty="0">
                <a:latin typeface="Times New Roman" pitchFamily="18" charset="0"/>
                <a:cs typeface="Times New Roman" pitchFamily="18" charset="0"/>
              </a:rPr>
              <a:t>Small Sized module to fit smartly inside your </a:t>
            </a:r>
            <a:r>
              <a:rPr lang="en-US" sz="1543" dirty="0" err="1">
                <a:latin typeface="Times New Roman" panose="02020603050405020304" pitchFamily="18" charset="0"/>
                <a:cs typeface="Times New Roman" pitchFamily="18" charset="0"/>
              </a:rPr>
              <a:t>IoT</a:t>
            </a:r>
            <a:r>
              <a:rPr lang="en-US" sz="1543" dirty="0">
                <a:latin typeface="Times New Roman" panose="02020603050405020304" pitchFamily="18" charset="0"/>
                <a:cs typeface="Times New Roman" pitchFamily="18" charset="0"/>
              </a:rPr>
              <a:t> projects</a:t>
            </a:r>
          </a:p>
        </p:txBody>
      </p:sp>
    </p:spTree>
    <p:extLst>
      <p:ext uri="{BB962C8B-B14F-4D97-AF65-F5344CB8AC3E}">
        <p14:creationId xmlns:p14="http://schemas.microsoft.com/office/powerpoint/2010/main" val="4259653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214" y="60854"/>
            <a:ext cx="10972801" cy="683140"/>
          </a:xfrm>
        </p:spPr>
        <p:txBody>
          <a:bodyPr>
            <a:normAutofit/>
          </a:bodyPr>
          <a:lstStyle/>
          <a:p>
            <a:r>
              <a:rPr lang="en-US" sz="3200" b="1" dirty="0">
                <a:latin typeface="Times New Roman" panose="02020603050405020304" pitchFamily="18" charset="0"/>
                <a:cs typeface="Times New Roman" panose="02020603050405020304" pitchFamily="18" charset="0"/>
              </a:rPr>
              <a:t>PIN CONFIGURATION IOT-ESP 8266 :</a:t>
            </a:r>
          </a:p>
        </p:txBody>
      </p:sp>
      <p:sp>
        <p:nvSpPr>
          <p:cNvPr id="3" name="Content Placeholder 2"/>
          <p:cNvSpPr>
            <a:spLocks noGrp="1"/>
          </p:cNvSpPr>
          <p:nvPr>
            <p:ph idx="1"/>
          </p:nvPr>
        </p:nvSpPr>
        <p:spPr>
          <a:xfrm>
            <a:off x="523214" y="1101903"/>
            <a:ext cx="11206811" cy="5266568"/>
          </a:xfrm>
        </p:spPr>
        <p:txBody>
          <a:bodyPr>
            <a:normAutofit/>
          </a:bodyPr>
          <a:lstStyle/>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a:p>
            <a:pPr>
              <a:buNone/>
            </a:pPr>
            <a:endParaRPr lang="en-US" sz="1543" b="1" dirty="0">
              <a:latin typeface="Times New Roman" pitchFamily="18" charset="0"/>
              <a:cs typeface="Times New Roman" pitchFamily="18" charset="0"/>
            </a:endParaRPr>
          </a:p>
        </p:txBody>
      </p:sp>
      <p:pic>
        <p:nvPicPr>
          <p:cNvPr id="4" name="Picture 3"/>
          <p:cNvPicPr/>
          <p:nvPr/>
        </p:nvPicPr>
        <p:blipFill rotWithShape="1">
          <a:blip r:embed="rId2">
            <a:extLst>
              <a:ext uri="{28A0092B-C50C-407E-A947-70E740481C1C}">
                <a14:useLocalDpi xmlns:a14="http://schemas.microsoft.com/office/drawing/2010/main" val="0"/>
              </a:ext>
            </a:extLst>
          </a:blip>
          <a:srcRect l="15841" t="38521" r="54892" b="23670"/>
          <a:stretch>
            <a:fillRect/>
          </a:stretch>
        </p:blipFill>
        <p:spPr bwMode="auto">
          <a:xfrm>
            <a:off x="7875639" y="1555954"/>
            <a:ext cx="4255123" cy="3746091"/>
          </a:xfrm>
          <a:prstGeom prst="snip2SameRect">
            <a:avLst/>
          </a:prstGeom>
          <a:noFill/>
          <a:ln>
            <a:noFill/>
          </a:ln>
          <a:effectLst/>
        </p:spPr>
      </p:pic>
      <p:graphicFrame>
        <p:nvGraphicFramePr>
          <p:cNvPr id="5" name="Table 4"/>
          <p:cNvGraphicFramePr>
            <a:graphicFrameLocks noGrp="1"/>
          </p:cNvGraphicFramePr>
          <p:nvPr>
            <p:extLst>
              <p:ext uri="{D42A27DB-BD31-4B8C-83A1-F6EECF244321}">
                <p14:modId xmlns:p14="http://schemas.microsoft.com/office/powerpoint/2010/main" val="839818169"/>
              </p:ext>
            </p:extLst>
          </p:nvPr>
        </p:nvGraphicFramePr>
        <p:xfrm>
          <a:off x="61238" y="685189"/>
          <a:ext cx="7814401" cy="6172811"/>
        </p:xfrm>
        <a:graphic>
          <a:graphicData uri="http://schemas.openxmlformats.org/drawingml/2006/table">
            <a:tbl>
              <a:tblPr firstRow="1" bandRow="1">
                <a:tableStyleId>{5C22544A-7EE6-4342-B048-85BDC9FD1C3A}</a:tableStyleId>
              </a:tblPr>
              <a:tblGrid>
                <a:gridCol w="1062758">
                  <a:extLst>
                    <a:ext uri="{9D8B030D-6E8A-4147-A177-3AD203B41FA5}">
                      <a16:colId xmlns:a16="http://schemas.microsoft.com/office/drawing/2014/main" val="20000"/>
                    </a:ext>
                  </a:extLst>
                </a:gridCol>
                <a:gridCol w="1187789">
                  <a:extLst>
                    <a:ext uri="{9D8B030D-6E8A-4147-A177-3AD203B41FA5}">
                      <a16:colId xmlns:a16="http://schemas.microsoft.com/office/drawing/2014/main" val="20001"/>
                    </a:ext>
                  </a:extLst>
                </a:gridCol>
                <a:gridCol w="5563854">
                  <a:extLst>
                    <a:ext uri="{9D8B030D-6E8A-4147-A177-3AD203B41FA5}">
                      <a16:colId xmlns:a16="http://schemas.microsoft.com/office/drawing/2014/main" val="20002"/>
                    </a:ext>
                  </a:extLst>
                </a:gridCol>
              </a:tblGrid>
              <a:tr h="811603">
                <a:tc>
                  <a:txBody>
                    <a:bodyPr/>
                    <a:lstStyle/>
                    <a:p>
                      <a:pPr algn="just" fontAlgn="t"/>
                      <a:r>
                        <a:rPr lang="en-US" sz="1600" b="1" dirty="0">
                          <a:latin typeface="Times New Roman" pitchFamily="18" charset="0"/>
                          <a:cs typeface="Times New Roman" pitchFamily="18" charset="0"/>
                        </a:rPr>
                        <a:t>Pin Category</a:t>
                      </a:r>
                      <a:endParaRPr lang="en-US" sz="1600" b="0" dirty="0">
                        <a:latin typeface="Times New Roman" pitchFamily="18" charset="0"/>
                        <a:cs typeface="Times New Roman" pitchFamily="18" charset="0"/>
                      </a:endParaRPr>
                    </a:p>
                  </a:txBody>
                  <a:tcPr marL="65322" marR="65322" marT="65322" marB="65322"/>
                </a:tc>
                <a:tc>
                  <a:txBody>
                    <a:bodyPr/>
                    <a:lstStyle/>
                    <a:p>
                      <a:pPr fontAlgn="t"/>
                      <a:r>
                        <a:rPr lang="en-US" sz="1600" b="1" i="0" kern="1200" dirty="0">
                          <a:solidFill>
                            <a:schemeClr val="lt1"/>
                          </a:solidFill>
                          <a:latin typeface="Times New Roman" pitchFamily="18" charset="0"/>
                          <a:ea typeface="+mn-ea"/>
                          <a:cs typeface="Times New Roman" pitchFamily="18" charset="0"/>
                        </a:rPr>
                        <a:t>Name</a:t>
                      </a:r>
                      <a:endParaRPr lang="en-US" sz="1600" dirty="0">
                        <a:latin typeface="Times New Roman" pitchFamily="18" charset="0"/>
                        <a:cs typeface="Times New Roman" pitchFamily="18" charset="0"/>
                      </a:endParaRPr>
                    </a:p>
                  </a:txBody>
                  <a:tcPr marL="65322" marR="65322" marT="65322" marB="65322"/>
                </a:tc>
                <a:tc>
                  <a:txBody>
                    <a:bodyPr/>
                    <a:lstStyle/>
                    <a:p>
                      <a:r>
                        <a:rPr lang="en-US" sz="1600" b="1" i="0" kern="1200" dirty="0">
                          <a:solidFill>
                            <a:schemeClr val="lt1"/>
                          </a:solidFill>
                          <a:latin typeface="Times New Roman" pitchFamily="18" charset="0"/>
                          <a:ea typeface="+mn-ea"/>
                          <a:cs typeface="Times New Roman" pitchFamily="18" charset="0"/>
                        </a:rPr>
                        <a:t>Description</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0"/>
                  </a:ext>
                </a:extLst>
              </a:tr>
              <a:tr h="1215277">
                <a:tc>
                  <a:txBody>
                    <a:bodyPr/>
                    <a:lstStyle/>
                    <a:p>
                      <a:r>
                        <a:rPr lang="en-US" sz="1600" b="0" i="0" kern="1200" dirty="0">
                          <a:solidFill>
                            <a:schemeClr val="dk1"/>
                          </a:solidFill>
                          <a:latin typeface="Times New Roman" pitchFamily="18" charset="0"/>
                          <a:ea typeface="+mn-ea"/>
                          <a:cs typeface="Times New Roman" pitchFamily="18" charset="0"/>
                        </a:rPr>
                        <a:t>Power </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Micro-USB, 3.3V, GND, Vin</a:t>
                      </a:r>
                      <a:endParaRPr lang="en-US" sz="1600" dirty="0">
                        <a:latin typeface="Times New Roman" pitchFamily="18" charset="0"/>
                        <a:cs typeface="Times New Roman" pitchFamily="18" charset="0"/>
                      </a:endParaRPr>
                    </a:p>
                  </a:txBody>
                  <a:tcPr marL="78386" marR="78386" marT="39193" marB="39193"/>
                </a:tc>
                <a:tc>
                  <a:txBody>
                    <a:bodyPr/>
                    <a:lstStyle/>
                    <a:p>
                      <a:r>
                        <a:rPr lang="en-US" sz="1600" b="1" i="0" kern="1200" dirty="0">
                          <a:solidFill>
                            <a:schemeClr val="dk1"/>
                          </a:solidFill>
                          <a:latin typeface="Times New Roman" pitchFamily="18" charset="0"/>
                          <a:ea typeface="+mn-ea"/>
                          <a:cs typeface="Times New Roman" pitchFamily="18" charset="0"/>
                        </a:rPr>
                        <a:t>Micro-USB:</a:t>
                      </a:r>
                      <a:r>
                        <a:rPr lang="en-US" sz="1600" b="0" i="0" kern="1200" dirty="0">
                          <a:solidFill>
                            <a:schemeClr val="dk1"/>
                          </a:solidFill>
                          <a:latin typeface="Times New Roman" pitchFamily="18" charset="0"/>
                          <a:ea typeface="+mn-ea"/>
                          <a:cs typeface="Times New Roman" pitchFamily="18" charset="0"/>
                        </a:rPr>
                        <a:t> </a:t>
                      </a:r>
                      <a:r>
                        <a:rPr lang="en-US" sz="1600" b="0" i="0" kern="1200" dirty="0" err="1">
                          <a:solidFill>
                            <a:schemeClr val="dk1"/>
                          </a:solidFill>
                          <a:latin typeface="Times New Roman" pitchFamily="18" charset="0"/>
                          <a:ea typeface="+mn-ea"/>
                          <a:cs typeface="Times New Roman" pitchFamily="18" charset="0"/>
                        </a:rPr>
                        <a:t>NodeMCU</a:t>
                      </a:r>
                      <a:r>
                        <a:rPr lang="en-US" sz="1600" b="0" i="0" kern="1200" dirty="0">
                          <a:solidFill>
                            <a:schemeClr val="dk1"/>
                          </a:solidFill>
                          <a:latin typeface="Times New Roman" pitchFamily="18" charset="0"/>
                          <a:ea typeface="+mn-ea"/>
                          <a:cs typeface="Times New Roman" pitchFamily="18" charset="0"/>
                        </a:rPr>
                        <a:t> can be powered through the USB port</a:t>
                      </a:r>
                    </a:p>
                    <a:p>
                      <a:r>
                        <a:rPr lang="en-US" sz="1600" b="1" i="0" kern="1200" dirty="0">
                          <a:solidFill>
                            <a:schemeClr val="dk1"/>
                          </a:solidFill>
                          <a:latin typeface="Times New Roman" pitchFamily="18" charset="0"/>
                          <a:ea typeface="+mn-ea"/>
                          <a:cs typeface="Times New Roman" pitchFamily="18" charset="0"/>
                        </a:rPr>
                        <a:t>3.3V:</a:t>
                      </a:r>
                      <a:r>
                        <a:rPr lang="en-US" sz="1600" b="0" i="0" kern="1200" dirty="0">
                          <a:solidFill>
                            <a:schemeClr val="dk1"/>
                          </a:solidFill>
                          <a:latin typeface="Times New Roman" pitchFamily="18" charset="0"/>
                          <a:ea typeface="+mn-ea"/>
                          <a:cs typeface="Times New Roman" pitchFamily="18" charset="0"/>
                        </a:rPr>
                        <a:t> Regulated 3.3V can be supplied to this pin to power the board</a:t>
                      </a:r>
                    </a:p>
                    <a:p>
                      <a:r>
                        <a:rPr lang="en-US" sz="1600" b="1" i="0" kern="1200" dirty="0">
                          <a:solidFill>
                            <a:schemeClr val="dk1"/>
                          </a:solidFill>
                          <a:latin typeface="Times New Roman" pitchFamily="18" charset="0"/>
                          <a:ea typeface="+mn-ea"/>
                          <a:cs typeface="Times New Roman" pitchFamily="18" charset="0"/>
                        </a:rPr>
                        <a:t>GND:</a:t>
                      </a:r>
                      <a:r>
                        <a:rPr lang="en-US" sz="1600" b="0" i="0" kern="1200" dirty="0">
                          <a:solidFill>
                            <a:schemeClr val="dk1"/>
                          </a:solidFill>
                          <a:latin typeface="Times New Roman" pitchFamily="18" charset="0"/>
                          <a:ea typeface="+mn-ea"/>
                          <a:cs typeface="Times New Roman" pitchFamily="18" charset="0"/>
                        </a:rPr>
                        <a:t> Ground pins</a:t>
                      </a:r>
                    </a:p>
                    <a:p>
                      <a:r>
                        <a:rPr lang="en-US" sz="1600" b="1" i="0" kern="1200" dirty="0">
                          <a:solidFill>
                            <a:schemeClr val="dk1"/>
                          </a:solidFill>
                          <a:latin typeface="Times New Roman" pitchFamily="18" charset="0"/>
                          <a:ea typeface="+mn-ea"/>
                          <a:cs typeface="Times New Roman" pitchFamily="18" charset="0"/>
                        </a:rPr>
                        <a:t>Vin: </a:t>
                      </a:r>
                      <a:r>
                        <a:rPr lang="en-US" sz="1600" b="0" i="0" kern="1200" dirty="0">
                          <a:solidFill>
                            <a:schemeClr val="dk1"/>
                          </a:solidFill>
                          <a:latin typeface="Times New Roman" pitchFamily="18" charset="0"/>
                          <a:ea typeface="+mn-ea"/>
                          <a:cs typeface="Times New Roman" pitchFamily="18" charset="0"/>
                        </a:rPr>
                        <a:t>External Power Supply</a:t>
                      </a:r>
                    </a:p>
                  </a:txBody>
                  <a:tcPr marL="78386" marR="78386" marT="39193" marB="39193"/>
                </a:tc>
                <a:extLst>
                  <a:ext uri="{0D108BD9-81ED-4DB2-BD59-A6C34878D82A}">
                    <a16:rowId xmlns:a16="http://schemas.microsoft.com/office/drawing/2014/main" val="10001"/>
                  </a:ext>
                </a:extLst>
              </a:tr>
              <a:tr h="530159">
                <a:tc>
                  <a:txBody>
                    <a:bodyPr/>
                    <a:lstStyle/>
                    <a:p>
                      <a:r>
                        <a:rPr lang="en-US" sz="1600" b="0" i="0" kern="1200" dirty="0">
                          <a:solidFill>
                            <a:schemeClr val="dk1"/>
                          </a:solidFill>
                          <a:latin typeface="Times New Roman" pitchFamily="18" charset="0"/>
                          <a:ea typeface="+mn-ea"/>
                          <a:cs typeface="Times New Roman" pitchFamily="18" charset="0"/>
                        </a:rPr>
                        <a:t>Control Pins</a:t>
                      </a:r>
                      <a:endParaRPr lang="en-US" sz="1600" dirty="0">
                        <a:latin typeface="Times New Roman" pitchFamily="18" charset="0"/>
                        <a:cs typeface="Times New Roman" pitchFamily="18" charset="0"/>
                      </a:endParaRPr>
                    </a:p>
                  </a:txBody>
                  <a:tcPr marL="78386" marR="78386" marT="39193" marB="39193"/>
                </a:tc>
                <a:tc>
                  <a:txBody>
                    <a:bodyPr/>
                    <a:lstStyle/>
                    <a:p>
                      <a:r>
                        <a:rPr lang="en-US" sz="1600" b="1" i="0" kern="1200" dirty="0">
                          <a:solidFill>
                            <a:schemeClr val="dk1"/>
                          </a:solidFill>
                          <a:latin typeface="Times New Roman" pitchFamily="18" charset="0"/>
                          <a:ea typeface="+mn-ea"/>
                          <a:cs typeface="Times New Roman" pitchFamily="18" charset="0"/>
                        </a:rPr>
                        <a:t>EN, RST</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The pin and the button resets the microcontroller</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2"/>
                  </a:ext>
                </a:extLst>
              </a:tr>
              <a:tr h="530159">
                <a:tc>
                  <a:txBody>
                    <a:bodyPr/>
                    <a:lstStyle/>
                    <a:p>
                      <a:r>
                        <a:rPr lang="en-US" sz="1600" b="0" i="0" kern="1200" dirty="0">
                          <a:solidFill>
                            <a:schemeClr val="dk1"/>
                          </a:solidFill>
                          <a:latin typeface="Times New Roman" pitchFamily="18" charset="0"/>
                          <a:ea typeface="+mn-ea"/>
                          <a:cs typeface="Times New Roman" pitchFamily="18" charset="0"/>
                        </a:rPr>
                        <a:t>Analog Pin</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A0</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Used to measure analog voltage in the range of 0-3.3V</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3"/>
                  </a:ext>
                </a:extLst>
              </a:tr>
              <a:tr h="530159">
                <a:tc>
                  <a:txBody>
                    <a:bodyPr/>
                    <a:lstStyle/>
                    <a:p>
                      <a:r>
                        <a:rPr lang="en-US" sz="1600" b="0" i="0" kern="1200" dirty="0">
                          <a:solidFill>
                            <a:schemeClr val="dk1"/>
                          </a:solidFill>
                          <a:latin typeface="Times New Roman" pitchFamily="18" charset="0"/>
                          <a:ea typeface="+mn-ea"/>
                          <a:cs typeface="Times New Roman" pitchFamily="18" charset="0"/>
                        </a:rPr>
                        <a:t>GPIO Pins</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GPIO1 to GPIO16</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err="1">
                          <a:solidFill>
                            <a:schemeClr val="dk1"/>
                          </a:solidFill>
                          <a:latin typeface="Times New Roman" pitchFamily="18" charset="0"/>
                          <a:ea typeface="+mn-ea"/>
                          <a:cs typeface="Times New Roman" pitchFamily="18" charset="0"/>
                        </a:rPr>
                        <a:t>NodeMCU</a:t>
                      </a:r>
                      <a:r>
                        <a:rPr lang="en-US" sz="1600" b="0" i="0" kern="1200" dirty="0">
                          <a:solidFill>
                            <a:schemeClr val="dk1"/>
                          </a:solidFill>
                          <a:latin typeface="Times New Roman" pitchFamily="18" charset="0"/>
                          <a:ea typeface="+mn-ea"/>
                          <a:cs typeface="Times New Roman" pitchFamily="18" charset="0"/>
                        </a:rPr>
                        <a:t> has 16 general purpose input-output pins on its board</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4"/>
                  </a:ext>
                </a:extLst>
              </a:tr>
              <a:tr h="530159">
                <a:tc>
                  <a:txBody>
                    <a:bodyPr/>
                    <a:lstStyle/>
                    <a:p>
                      <a:r>
                        <a:rPr lang="en-US" sz="1600" b="0" i="0" kern="1200" dirty="0">
                          <a:solidFill>
                            <a:schemeClr val="dk1"/>
                          </a:solidFill>
                          <a:latin typeface="Times New Roman" pitchFamily="18" charset="0"/>
                          <a:ea typeface="+mn-ea"/>
                          <a:cs typeface="Times New Roman" pitchFamily="18" charset="0"/>
                        </a:rPr>
                        <a:t>SPI Pins</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SD1, CMD, SD0, CLK</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err="1">
                          <a:solidFill>
                            <a:schemeClr val="dk1"/>
                          </a:solidFill>
                          <a:latin typeface="Times New Roman" pitchFamily="18" charset="0"/>
                          <a:ea typeface="+mn-ea"/>
                          <a:cs typeface="Times New Roman" pitchFamily="18" charset="0"/>
                        </a:rPr>
                        <a:t>NodeMCU</a:t>
                      </a:r>
                      <a:r>
                        <a:rPr lang="en-US" sz="1600" b="0" i="0" kern="1200" dirty="0">
                          <a:solidFill>
                            <a:schemeClr val="dk1"/>
                          </a:solidFill>
                          <a:latin typeface="Times New Roman" pitchFamily="18" charset="0"/>
                          <a:ea typeface="+mn-ea"/>
                          <a:cs typeface="Times New Roman" pitchFamily="18" charset="0"/>
                        </a:rPr>
                        <a:t> has four pins available for SPI communication.</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5"/>
                  </a:ext>
                </a:extLst>
              </a:tr>
              <a:tr h="986904">
                <a:tc>
                  <a:txBody>
                    <a:bodyPr/>
                    <a:lstStyle/>
                    <a:p>
                      <a:r>
                        <a:rPr lang="en-US" sz="1600" b="0" i="0" kern="1200" dirty="0">
                          <a:solidFill>
                            <a:schemeClr val="dk1"/>
                          </a:solidFill>
                          <a:latin typeface="Times New Roman" pitchFamily="18" charset="0"/>
                          <a:ea typeface="+mn-ea"/>
                          <a:cs typeface="Times New Roman" pitchFamily="18" charset="0"/>
                        </a:rPr>
                        <a:t>UART Pins</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a:solidFill>
                            <a:schemeClr val="dk1"/>
                          </a:solidFill>
                          <a:latin typeface="Times New Roman" pitchFamily="18" charset="0"/>
                          <a:ea typeface="+mn-ea"/>
                          <a:cs typeface="Times New Roman" pitchFamily="18" charset="0"/>
                        </a:rPr>
                        <a:t>TXD0, RXD0, TXD2, RXD2</a:t>
                      </a:r>
                      <a:endParaRPr lang="en-US" sz="1600" dirty="0">
                        <a:latin typeface="Times New Roman" pitchFamily="18" charset="0"/>
                        <a:cs typeface="Times New Roman" pitchFamily="18" charset="0"/>
                      </a:endParaRPr>
                    </a:p>
                  </a:txBody>
                  <a:tcPr marL="78386" marR="78386" marT="39193" marB="39193"/>
                </a:tc>
                <a:tc>
                  <a:txBody>
                    <a:bodyPr/>
                    <a:lstStyle/>
                    <a:p>
                      <a:r>
                        <a:rPr lang="en-US" sz="1600" b="0" i="0" kern="1200" dirty="0" err="1">
                          <a:solidFill>
                            <a:schemeClr val="dk1"/>
                          </a:solidFill>
                          <a:latin typeface="Times New Roman" pitchFamily="18" charset="0"/>
                          <a:ea typeface="+mn-ea"/>
                          <a:cs typeface="Times New Roman" pitchFamily="18" charset="0"/>
                        </a:rPr>
                        <a:t>NodeMCU</a:t>
                      </a:r>
                      <a:r>
                        <a:rPr lang="en-US" sz="1600" b="0" i="0" kern="1200" dirty="0">
                          <a:solidFill>
                            <a:schemeClr val="dk1"/>
                          </a:solidFill>
                          <a:latin typeface="Times New Roman" pitchFamily="18" charset="0"/>
                          <a:ea typeface="+mn-ea"/>
                          <a:cs typeface="Times New Roman" pitchFamily="18" charset="0"/>
                        </a:rPr>
                        <a:t> has two UART interfaces, UART0 (RXD0 &amp; TXD0) and UART1 (RXD1 &amp; TXD1). UART1 is used to upload the firmware/program.</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6"/>
                  </a:ext>
                </a:extLst>
              </a:tr>
              <a:tr h="745612">
                <a:tc>
                  <a:txBody>
                    <a:bodyPr/>
                    <a:lstStyle/>
                    <a:p>
                      <a:r>
                        <a:rPr lang="en-US" sz="1600" b="0" i="0" kern="1200" dirty="0">
                          <a:solidFill>
                            <a:schemeClr val="dk1"/>
                          </a:solidFill>
                          <a:latin typeface="Times New Roman" pitchFamily="18" charset="0"/>
                          <a:ea typeface="+mn-ea"/>
                          <a:cs typeface="Times New Roman" pitchFamily="18" charset="0"/>
                        </a:rPr>
                        <a:t>I2C Pins</a:t>
                      </a:r>
                      <a:endParaRPr lang="en-US" sz="1600" dirty="0">
                        <a:latin typeface="Times New Roman" pitchFamily="18" charset="0"/>
                        <a:cs typeface="Times New Roman" pitchFamily="18" charset="0"/>
                      </a:endParaRPr>
                    </a:p>
                  </a:txBody>
                  <a:tcPr marL="78386" marR="78386" marT="39193" marB="39193"/>
                </a:tc>
                <a:tc>
                  <a:txBody>
                    <a:bodyPr/>
                    <a:lstStyle/>
                    <a:p>
                      <a:endParaRPr lang="en-US" sz="1600">
                        <a:latin typeface="Times New Roman" pitchFamily="18" charset="0"/>
                        <a:cs typeface="Times New Roman" pitchFamily="18" charset="0"/>
                      </a:endParaRPr>
                    </a:p>
                  </a:txBody>
                  <a:tcPr marL="78386" marR="78386" marT="39193" marB="39193"/>
                </a:tc>
                <a:tc>
                  <a:txBody>
                    <a:bodyPr/>
                    <a:lstStyle/>
                    <a:p>
                      <a:r>
                        <a:rPr lang="en-US" sz="1600" b="0" i="0" kern="1200" dirty="0" err="1">
                          <a:solidFill>
                            <a:schemeClr val="dk1"/>
                          </a:solidFill>
                          <a:latin typeface="Times New Roman" pitchFamily="18" charset="0"/>
                          <a:ea typeface="+mn-ea"/>
                          <a:cs typeface="Times New Roman" pitchFamily="18" charset="0"/>
                        </a:rPr>
                        <a:t>NodeMCU</a:t>
                      </a:r>
                      <a:r>
                        <a:rPr lang="en-US" sz="1600" b="0" i="0" kern="1200" dirty="0">
                          <a:solidFill>
                            <a:schemeClr val="dk1"/>
                          </a:solidFill>
                          <a:latin typeface="Times New Roman" pitchFamily="18" charset="0"/>
                          <a:ea typeface="+mn-ea"/>
                          <a:cs typeface="Times New Roman" pitchFamily="18" charset="0"/>
                        </a:rPr>
                        <a:t> has I2C functionality support but due to the internal functionality of these pins, you have to find which pin is I2C.</a:t>
                      </a:r>
                      <a:endParaRPr lang="en-US" sz="1600" dirty="0">
                        <a:latin typeface="Times New Roman" pitchFamily="18" charset="0"/>
                        <a:cs typeface="Times New Roman" pitchFamily="18" charset="0"/>
                      </a:endParaRPr>
                    </a:p>
                  </a:txBody>
                  <a:tcPr marL="78386" marR="78386" marT="39193" marB="39193"/>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84842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7824" y="-295760"/>
            <a:ext cx="10907451" cy="1002316"/>
          </a:xfrm>
        </p:spPr>
        <p:txBody>
          <a:bodyPr>
            <a:normAutofit/>
          </a:bodyPr>
          <a:lstStyle/>
          <a:p>
            <a:pPr algn="l"/>
            <a:r>
              <a:rPr lang="en-IN" sz="3200" b="1" dirty="0">
                <a:latin typeface="Times New Roman" panose="02020603050405020304" pitchFamily="18" charset="0"/>
                <a:cs typeface="Times New Roman" panose="02020603050405020304" pitchFamily="18" charset="0"/>
              </a:rPr>
              <a:t>CURRENT TRANSFORMER(CT):</a:t>
            </a:r>
          </a:p>
        </p:txBody>
      </p:sp>
      <p:sp>
        <p:nvSpPr>
          <p:cNvPr id="3" name="Subtitle 2"/>
          <p:cNvSpPr>
            <a:spLocks noGrp="1"/>
          </p:cNvSpPr>
          <p:nvPr>
            <p:ph type="subTitle" idx="1"/>
          </p:nvPr>
        </p:nvSpPr>
        <p:spPr>
          <a:xfrm>
            <a:off x="926973" y="891142"/>
            <a:ext cx="8708639" cy="4378947"/>
          </a:xfrm>
        </p:spPr>
        <p:txBody>
          <a:bodyPr>
            <a:normAutofit/>
          </a:bodyPr>
          <a:lstStyle/>
          <a:p>
            <a:pPr marL="285750" indent="-285750" algn="l">
              <a:buFont typeface="Wingdings" pitchFamily="2" charset="2"/>
              <a:buChar char="§"/>
            </a:pPr>
            <a:r>
              <a:rPr lang="en-US" sz="2000" dirty="0">
                <a:latin typeface="Times New Roman" pitchFamily="18" charset="0"/>
                <a:cs typeface="Times New Roman" pitchFamily="18" charset="0"/>
              </a:rPr>
              <a:t>The C.T. is act as current sensor which place series with the load. Basic function of current transformer is to step down and calculate the current. </a:t>
            </a:r>
          </a:p>
          <a:p>
            <a:pPr marL="285750" indent="-285750" algn="l">
              <a:buFont typeface="Wingdings" pitchFamily="2" charset="2"/>
              <a:buChar char="§"/>
            </a:pPr>
            <a:r>
              <a:rPr lang="en-US" sz="2000" dirty="0">
                <a:latin typeface="Times New Roman" pitchFamily="18" charset="0"/>
                <a:cs typeface="Times New Roman" pitchFamily="18" charset="0"/>
              </a:rPr>
              <a:t>C.T load of 330 ῼ is connected on secondary winding of C.T. </a:t>
            </a:r>
          </a:p>
          <a:p>
            <a:pPr marL="285750" indent="-285750" algn="l">
              <a:buFont typeface="Wingdings" pitchFamily="2" charset="2"/>
              <a:buChar char="§"/>
            </a:pPr>
            <a:r>
              <a:rPr lang="en-US" sz="2000" dirty="0">
                <a:latin typeface="Times New Roman" pitchFamily="18" charset="0"/>
                <a:cs typeface="Times New Roman" pitchFamily="18" charset="0"/>
              </a:rPr>
              <a:t>A current transformer is a type of "instrument transformer" that is designed to provide a current in its secondary which is accurately proportional to the current flowing in its primary.</a:t>
            </a:r>
          </a:p>
          <a:p>
            <a:pPr marL="285750" indent="-285750" algn="l">
              <a:buFont typeface="Wingdings" pitchFamily="2" charset="2"/>
              <a:buChar char="§"/>
            </a:pPr>
            <a:r>
              <a:rPr lang="en-US" sz="2000" dirty="0">
                <a:latin typeface="Times New Roman" pitchFamily="18" charset="0"/>
                <a:cs typeface="Times New Roman" pitchFamily="18" charset="0"/>
              </a:rPr>
              <a:t>Then AC signal rectification done DC analog signal is transferred to the analog pin of Arduino Board Platforms analog pin(A0).</a:t>
            </a:r>
          </a:p>
          <a:p>
            <a:pPr marL="285750" indent="-285750" algn="l">
              <a:buFont typeface="Wingdings" pitchFamily="2" charset="2"/>
              <a:buChar char="§"/>
            </a:pPr>
            <a:endParaRPr lang="en-IN" sz="2000" dirty="0">
              <a:latin typeface="Times New Roman" pitchFamily="18" charset="0"/>
              <a:cs typeface="Times New Roman" pitchFamily="18" charset="0"/>
            </a:endParaRPr>
          </a:p>
        </p:txBody>
      </p:sp>
      <p:pic>
        <p:nvPicPr>
          <p:cNvPr id="1026" name="Picture 2" descr="ZMCT103C Micro Current Transformer | 5A / 5m | Arduino Co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4316" y="3206527"/>
            <a:ext cx="4570959" cy="29249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26974" y="4187887"/>
            <a:ext cx="5184576" cy="1200329"/>
          </a:xfrm>
          <a:prstGeom prst="rect">
            <a:avLst/>
          </a:prstGeom>
          <a:noFill/>
        </p:spPr>
        <p:txBody>
          <a:bodyPr wrap="square" rtlCol="0">
            <a:spAutoFit/>
          </a:bodyPr>
          <a:lstStyle/>
          <a:p>
            <a:pPr marL="285750" indent="-285750">
              <a:buFont typeface="Wingdings" pitchFamily="2" charset="2"/>
              <a:buChar char="§"/>
            </a:pPr>
            <a:r>
              <a:rPr lang="en-US" dirty="0">
                <a:latin typeface="Times New Roman" pitchFamily="18" charset="0"/>
                <a:cs typeface="Times New Roman" pitchFamily="18" charset="0"/>
              </a:rPr>
              <a:t>Then the Gas sensor value is displayed in the LCD and also updated in the IOT Cayenne app.</a:t>
            </a:r>
            <a:endParaRPr lang="en-IN" dirty="0">
              <a:latin typeface="Times New Roman" pitchFamily="18" charset="0"/>
              <a:cs typeface="Times New Roman" pitchFamily="18" charset="0"/>
            </a:endParaRPr>
          </a:p>
          <a:p>
            <a:pPr marL="342900" indent="-342900">
              <a:buFont typeface="Wingdings" pitchFamily="2" charset="2"/>
              <a:buChar char="§"/>
            </a:pPr>
            <a:endParaRPr lang="en-US"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651907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11" y="233038"/>
            <a:ext cx="11922177" cy="645062"/>
          </a:xfrm>
        </p:spPr>
        <p:txBody>
          <a:bodyPr>
            <a:normAutofit/>
          </a:bodyPr>
          <a:lstStyle/>
          <a:p>
            <a:r>
              <a:rPr lang="en-IN" sz="3200" b="1" dirty="0">
                <a:latin typeface="Times New Roman" panose="02020603050405020304" pitchFamily="18" charset="0"/>
                <a:cs typeface="Times New Roman" panose="02020603050405020304" pitchFamily="18" charset="0"/>
              </a:rPr>
              <a:t>TEMPERATURE SENSOR :</a:t>
            </a:r>
          </a:p>
        </p:txBody>
      </p:sp>
      <p:sp>
        <p:nvSpPr>
          <p:cNvPr id="3" name="Content Placeholder 2"/>
          <p:cNvSpPr>
            <a:spLocks noGrp="1"/>
          </p:cNvSpPr>
          <p:nvPr>
            <p:ph idx="1"/>
          </p:nvPr>
        </p:nvSpPr>
        <p:spPr>
          <a:xfrm>
            <a:off x="269822" y="878100"/>
            <a:ext cx="11390026" cy="5746862"/>
          </a:xfrm>
        </p:spPr>
        <p:txBody>
          <a:bodyPr>
            <a:noAutofit/>
          </a:bodyPr>
          <a:lstStyle/>
          <a:p>
            <a:pPr algn="just" fontAlgn="base"/>
            <a:r>
              <a:rPr lang="en-IN" sz="1800" dirty="0">
                <a:latin typeface="Times New Roman" panose="02020603050405020304" pitchFamily="18" charset="0"/>
                <a:cs typeface="Times New Roman" pitchFamily="18" charset="0"/>
              </a:rPr>
              <a:t>A temperature sensor is an electronic device that measures the temperature of its environment and converts the input data into electronic data to record, monitor, or signal temperature changes.</a:t>
            </a:r>
          </a:p>
          <a:p>
            <a:pPr algn="just" fontAlgn="base"/>
            <a:r>
              <a:rPr lang="en-US" sz="1800" dirty="0">
                <a:latin typeface="Times New Roman" pitchFamily="18" charset="0"/>
                <a:cs typeface="Times New Roman" pitchFamily="18" charset="0"/>
              </a:rPr>
              <a:t>LM35 is a temperature measuring device having an analog output voltage proportional to the temperature.</a:t>
            </a:r>
          </a:p>
          <a:p>
            <a:pPr algn="just" fontAlgn="base"/>
            <a:r>
              <a:rPr lang="en-US" sz="1800" dirty="0">
                <a:latin typeface="Times New Roman" pitchFamily="18" charset="0"/>
                <a:cs typeface="Times New Roman" pitchFamily="18" charset="0"/>
              </a:rPr>
              <a:t>It provides output voltage in Centigrade (Celsius). It does not require any external calibration circuitry.</a:t>
            </a:r>
          </a:p>
          <a:p>
            <a:pPr algn="just" fontAlgn="base"/>
            <a:r>
              <a:rPr lang="en-US" sz="1800" dirty="0">
                <a:latin typeface="Times New Roman" pitchFamily="18" charset="0"/>
                <a:cs typeface="Times New Roman" pitchFamily="18" charset="0"/>
              </a:rPr>
              <a:t>The sensitivity of LM35 is 10 mV/degree Celsius. As temperature increases, output voltage also increases.</a:t>
            </a:r>
          </a:p>
          <a:p>
            <a:pPr algn="just" fontAlgn="base"/>
            <a:r>
              <a:rPr lang="en-US" sz="1800" dirty="0">
                <a:latin typeface="Times New Roman" pitchFamily="18" charset="0"/>
                <a:cs typeface="Times New Roman" pitchFamily="18" charset="0"/>
              </a:rPr>
              <a:t>It is a 3-terminal sensor used to measure surrounding temperature ranging from -55 °C to 150 °C.</a:t>
            </a:r>
          </a:p>
          <a:p>
            <a:pPr algn="just" fontAlgn="base"/>
            <a:r>
              <a:rPr lang="en-US" sz="1800" dirty="0">
                <a:latin typeface="Times New Roman" pitchFamily="18" charset="0"/>
                <a:cs typeface="Times New Roman" pitchFamily="18" charset="0"/>
              </a:rPr>
              <a:t>LM35 gives temperature output which is more precise than </a:t>
            </a:r>
            <a:r>
              <a:rPr lang="en-US" sz="1800" dirty="0" err="1">
                <a:latin typeface="Times New Roman" panose="02020603050405020304" pitchFamily="18" charset="0"/>
                <a:cs typeface="Times New Roman" pitchFamily="18" charset="0"/>
              </a:rPr>
              <a:t>thermistor</a:t>
            </a:r>
            <a:r>
              <a:rPr lang="en-US" sz="1800" dirty="0">
                <a:latin typeface="Times New Roman" panose="02020603050405020304" pitchFamily="18" charset="0"/>
                <a:cs typeface="Times New Roman" pitchFamily="18" charset="0"/>
              </a:rPr>
              <a:t> output.</a:t>
            </a:r>
          </a:p>
          <a:p>
            <a:pPr algn="just" fontAlgn="base"/>
            <a:r>
              <a:rPr lang="en-IN" sz="1800" dirty="0">
                <a:latin typeface="Times New Roman" pitchFamily="18" charset="0"/>
                <a:cs typeface="Times New Roman" pitchFamily="18" charset="0"/>
              </a:rPr>
              <a:t>The temperature sensor operating voltage is 5V.</a:t>
            </a:r>
          </a:p>
          <a:p>
            <a:pPr algn="just" fontAlgn="base"/>
            <a:r>
              <a:rPr lang="en-IN" sz="1800" dirty="0">
                <a:latin typeface="Times New Roman" pitchFamily="18" charset="0"/>
                <a:cs typeface="Times New Roman" pitchFamily="18" charset="0"/>
              </a:rPr>
              <a:t>Temperature sensors are also used in the field; for example, thermometers play a vital role in geotechnical monitoring and renewable energy. </a:t>
            </a:r>
          </a:p>
          <a:p>
            <a:pPr algn="just" fontAlgn="base"/>
            <a:r>
              <a:rPr lang="en-IN" sz="1800" dirty="0">
                <a:latin typeface="Times New Roman" pitchFamily="18" charset="0"/>
                <a:cs typeface="Times New Roman" pitchFamily="18" charset="0"/>
              </a:rPr>
              <a:t>The output voltage is proportional to Celsius temperature scale and changes by 10mV per °C.</a:t>
            </a:r>
          </a:p>
          <a:p>
            <a:pPr algn="just" fontAlgn="base"/>
            <a:r>
              <a:rPr lang="en-IN" sz="1800" dirty="0">
                <a:latin typeface="Times New Roman" pitchFamily="18" charset="0"/>
                <a:cs typeface="Times New Roman" pitchFamily="18" charset="0"/>
              </a:rPr>
              <a:t>It has </a:t>
            </a:r>
            <a:r>
              <a:rPr lang="en-IN" sz="1800" dirty="0" err="1">
                <a:latin typeface="Times New Roman" panose="02020603050405020304" pitchFamily="18" charset="0"/>
                <a:cs typeface="Times New Roman" pitchFamily="18" charset="0"/>
              </a:rPr>
              <a:t>has</a:t>
            </a:r>
            <a:r>
              <a:rPr lang="en-IN" sz="1800" dirty="0">
                <a:latin typeface="Times New Roman" panose="02020603050405020304" pitchFamily="18" charset="0"/>
                <a:cs typeface="Times New Roman" pitchFamily="18" charset="0"/>
              </a:rPr>
              <a:t> Zero offset voltage.</a:t>
            </a:r>
          </a:p>
          <a:p>
            <a:pPr algn="just">
              <a:buNone/>
            </a:pPr>
            <a:r>
              <a:rPr lang="en-IN" sz="1800" b="1" dirty="0">
                <a:latin typeface="Times New Roman" panose="02020603050405020304" pitchFamily="18" charset="0"/>
                <a:cs typeface="Times New Roman" pitchFamily="18" charset="0"/>
              </a:rPr>
              <a:t>Pin configuration</a:t>
            </a:r>
          </a:p>
          <a:p>
            <a:pPr algn="just"/>
            <a:r>
              <a:rPr lang="en-IN" sz="1800" dirty="0" err="1">
                <a:latin typeface="Times New Roman" panose="02020603050405020304" pitchFamily="18" charset="0"/>
                <a:cs typeface="Times New Roman" pitchFamily="18" charset="0"/>
              </a:rPr>
              <a:t>Vcc</a:t>
            </a:r>
            <a:r>
              <a:rPr lang="en-IN" sz="1800" dirty="0">
                <a:latin typeface="Times New Roman" pitchFamily="18" charset="0"/>
                <a:cs typeface="Times New Roman" pitchFamily="18" charset="0"/>
              </a:rPr>
              <a:t> Pin - The first pin connected to the Input voltage is 5V .</a:t>
            </a:r>
          </a:p>
          <a:p>
            <a:pPr algn="just"/>
            <a:r>
              <a:rPr lang="en-IN" sz="1800" dirty="0">
                <a:latin typeface="Times New Roman" pitchFamily="18" charset="0"/>
                <a:cs typeface="Times New Roman" pitchFamily="18" charset="0"/>
              </a:rPr>
              <a:t>Out Pin -  The second pin connected to </a:t>
            </a:r>
            <a:r>
              <a:rPr lang="en-IN" sz="1800" dirty="0" err="1">
                <a:latin typeface="Times New Roman" panose="02020603050405020304" pitchFamily="18" charset="0"/>
                <a:cs typeface="Times New Roman" pitchFamily="18" charset="0"/>
              </a:rPr>
              <a:t>Analog</a:t>
            </a:r>
            <a:r>
              <a:rPr lang="en-IN" sz="1800" dirty="0">
                <a:latin typeface="Times New Roman" pitchFamily="18" charset="0"/>
                <a:cs typeface="Times New Roman" pitchFamily="18" charset="0"/>
              </a:rPr>
              <a:t> Pin of output.</a:t>
            </a:r>
          </a:p>
          <a:p>
            <a:pPr algn="just"/>
            <a:r>
              <a:rPr lang="en-IN" sz="1800" dirty="0">
                <a:latin typeface="Times New Roman" pitchFamily="18" charset="0"/>
                <a:cs typeface="Times New Roman" pitchFamily="18" charset="0"/>
              </a:rPr>
              <a:t>GND Pin - the third pin connected to the ground of circuit . </a:t>
            </a:r>
          </a:p>
          <a:p>
            <a:pPr marL="0" indent="0">
              <a:buNone/>
            </a:pPr>
            <a:br>
              <a:rPr lang="en-IN" sz="1800" dirty="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
        <p:nvSpPr>
          <p:cNvPr id="5" name="Content Placeholder 3"/>
          <p:cNvSpPr txBox="1">
            <a:spLocks/>
          </p:cNvSpPr>
          <p:nvPr/>
        </p:nvSpPr>
        <p:spPr>
          <a:xfrm>
            <a:off x="7950616" y="1413113"/>
            <a:ext cx="3709232" cy="3144784"/>
          </a:xfrm>
          <a:prstGeom prst="rect">
            <a:avLst/>
          </a:prstGeom>
        </p:spPr>
        <p:txBody>
          <a:bodyPr>
            <a:normAutofit/>
          </a:bodyPr>
          <a:lstStyle/>
          <a:p>
            <a:pPr marL="387031" indent="-387031" defTabSz="1032083">
              <a:spcBef>
                <a:spcPct val="20000"/>
              </a:spcBef>
              <a:buFont typeface="Arial" pitchFamily="34" charset="0"/>
              <a:buChar char="•"/>
              <a:defRPr/>
            </a:pPr>
            <a:endParaRPr lang="en-US" sz="1354" dirty="0">
              <a:latin typeface="Times New Roman" pitchFamily="18" charset="0"/>
              <a:cs typeface="Times New Roman" pitchFamily="18" charset="0"/>
            </a:endParaRPr>
          </a:p>
        </p:txBody>
      </p:sp>
      <p:sp>
        <p:nvSpPr>
          <p:cNvPr id="6" name="Content Placeholder 3"/>
          <p:cNvSpPr txBox="1">
            <a:spLocks/>
          </p:cNvSpPr>
          <p:nvPr/>
        </p:nvSpPr>
        <p:spPr>
          <a:xfrm>
            <a:off x="8031251" y="4396626"/>
            <a:ext cx="3451666" cy="1935231"/>
          </a:xfrm>
          <a:prstGeom prst="rect">
            <a:avLst/>
          </a:prstGeom>
        </p:spPr>
        <p:txBody>
          <a:bodyPr>
            <a:normAutofit/>
          </a:bodyPr>
          <a:lstStyle/>
          <a:p>
            <a:endParaRPr lang="en-IN" sz="1354" dirty="0">
              <a:latin typeface="Times New Roman" pitchFamily="18" charset="0"/>
              <a:cs typeface="Times New Roman"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444" y="4862697"/>
            <a:ext cx="1693345" cy="1693325"/>
          </a:xfrm>
          <a:prstGeom prst="rect">
            <a:avLst/>
          </a:prstGeom>
        </p:spPr>
      </p:pic>
    </p:spTree>
    <p:extLst>
      <p:ext uri="{BB962C8B-B14F-4D97-AF65-F5344CB8AC3E}">
        <p14:creationId xmlns:p14="http://schemas.microsoft.com/office/powerpoint/2010/main" val="3340412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electronic device with red arrows&#10;&#10;AI-generated content may be incorrect.">
            <a:extLst>
              <a:ext uri="{FF2B5EF4-FFF2-40B4-BE49-F238E27FC236}">
                <a16:creationId xmlns:a16="http://schemas.microsoft.com/office/drawing/2014/main" id="{A53D8063-DAA7-345B-3725-61817A255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5471" y="4690282"/>
            <a:ext cx="3423923" cy="1960705"/>
          </a:xfrm>
          <a:prstGeom prst="rect">
            <a:avLst/>
          </a:prstGeom>
        </p:spPr>
      </p:pic>
      <p:sp>
        <p:nvSpPr>
          <p:cNvPr id="6" name="TextBox 5">
            <a:extLst>
              <a:ext uri="{FF2B5EF4-FFF2-40B4-BE49-F238E27FC236}">
                <a16:creationId xmlns:a16="http://schemas.microsoft.com/office/drawing/2014/main" id="{60942ED5-E0B4-4429-EF12-74D9BC271F10}"/>
              </a:ext>
            </a:extLst>
          </p:cNvPr>
          <p:cNvSpPr txBox="1"/>
          <p:nvPr/>
        </p:nvSpPr>
        <p:spPr>
          <a:xfrm>
            <a:off x="353961" y="176981"/>
            <a:ext cx="6735097" cy="6247864"/>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ACS712 Current Sensor :</a:t>
            </a:r>
          </a:p>
          <a:p>
            <a:pPr algn="just"/>
            <a:r>
              <a:rPr lang="en-IN" sz="32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ACS712 is a Hall-effect-based linear sensor that measures motor current by detecting magnetic fields, providing a low-resistance path with built-in electrical isolation. In this predictive maintenance system, the ±5A variant is wired in series with the motor, offering a high sensitivity of 185 mV/A to detect subtle fluctuations. The Arduino processes the sensor’s analog output by calculating the voltage deviation from a 2.5V reference, triggering an "OVERLOAD!" alert if current exceeds 125% of the motor's rated capacity. This monitoring is critical for early fault detection, as progressive increases in current draw often signal bearing wear, rotor eccentricity, or impending mechanical jams before catastrophic failure occurs.</a:t>
            </a:r>
            <a:endParaRPr lang="en-IN" sz="32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38800D8F-7910-9AE9-4510-3628F2872D86}"/>
              </a:ext>
            </a:extLst>
          </p:cNvPr>
          <p:cNvGraphicFramePr>
            <a:graphicFrameLocks noGrp="1"/>
          </p:cNvGraphicFramePr>
          <p:nvPr>
            <p:extLst>
              <p:ext uri="{D42A27DB-BD31-4B8C-83A1-F6EECF244321}">
                <p14:modId xmlns:p14="http://schemas.microsoft.com/office/powerpoint/2010/main" val="4292176415"/>
              </p:ext>
            </p:extLst>
          </p:nvPr>
        </p:nvGraphicFramePr>
        <p:xfrm>
          <a:off x="7237690" y="599768"/>
          <a:ext cx="4719484" cy="3937128"/>
        </p:xfrm>
        <a:graphic>
          <a:graphicData uri="http://schemas.openxmlformats.org/drawingml/2006/table">
            <a:tbl>
              <a:tblPr firstRow="1" bandRow="1">
                <a:tableStyleId>{5C22544A-7EE6-4342-B048-85BDC9FD1C3A}</a:tableStyleId>
              </a:tblPr>
              <a:tblGrid>
                <a:gridCol w="2648156">
                  <a:extLst>
                    <a:ext uri="{9D8B030D-6E8A-4147-A177-3AD203B41FA5}">
                      <a16:colId xmlns:a16="http://schemas.microsoft.com/office/drawing/2014/main" val="2409389688"/>
                    </a:ext>
                  </a:extLst>
                </a:gridCol>
                <a:gridCol w="2071328">
                  <a:extLst>
                    <a:ext uri="{9D8B030D-6E8A-4147-A177-3AD203B41FA5}">
                      <a16:colId xmlns:a16="http://schemas.microsoft.com/office/drawing/2014/main" val="496684496"/>
                    </a:ext>
                  </a:extLst>
                </a:gridCol>
              </a:tblGrid>
              <a:tr h="294093">
                <a:tc>
                  <a:txBody>
                    <a:bodyPr/>
                    <a:lstStyle/>
                    <a:p>
                      <a:pPr indent="226695" algn="just">
                        <a:lnSpc>
                          <a:spcPct val="150000"/>
                        </a:lnSpc>
                        <a:spcAft>
                          <a:spcPts val="800"/>
                        </a:spcAft>
                        <a:buNone/>
                      </a:pPr>
                      <a:r>
                        <a:rPr lang="en-IN" sz="1200" b="1" kern="100" dirty="0">
                          <a:effectLst/>
                          <a:latin typeface="Times New Roman" panose="02020603050405020304" pitchFamily="18" charset="0"/>
                          <a:ea typeface="Aptos" panose="020B0004020202020204" pitchFamily="34" charset="0"/>
                          <a:cs typeface="Times New Roman" panose="02020603050405020304" pitchFamily="18" charset="0"/>
                        </a:rPr>
                        <a:t>Parameter</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b="1" kern="100">
                          <a:effectLst/>
                          <a:latin typeface="Times New Roman" panose="02020603050405020304" pitchFamily="18" charset="0"/>
                          <a:ea typeface="Aptos" panose="020B0004020202020204" pitchFamily="34" charset="0"/>
                          <a:cs typeface="Times New Roman" panose="02020603050405020304" pitchFamily="18" charset="0"/>
                        </a:rPr>
                        <a:t>Specification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1061043199"/>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Current Range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±5A, ±20A, ±30A (variants)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683558623"/>
                  </a:ext>
                </a:extLst>
              </a:tr>
              <a:tr h="370840">
                <a:tc>
                  <a:txBody>
                    <a:bodyPr/>
                    <a:lstStyle/>
                    <a:p>
                      <a:pPr indent="226695" algn="just">
                        <a:lnSpc>
                          <a:spcPct val="150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Supply Voltage (VCC)</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5V</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1601203705"/>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Output Sensitivity (±5A model)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185 mV/A</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1867894763"/>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Zero-Current Output Voltage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VCC/2 = 2.5V</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4010745842"/>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Bandwidth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80 kHz</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2090955459"/>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Total Output Error</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±1.5% (typical)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2326116500"/>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Internal Resistance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1.2 mΩ</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4089575360"/>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Operating Temperature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-40°C to +85°C</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2386497573"/>
                  </a:ext>
                </a:extLst>
              </a:tr>
              <a:tr h="370840">
                <a:tc>
                  <a:txBody>
                    <a:bodyPr/>
                    <a:lstStyle/>
                    <a:p>
                      <a:pPr indent="226695" algn="just">
                        <a:lnSpc>
                          <a:spcPct val="150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Package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just">
                        <a:lnSpc>
                          <a:spcPct val="150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SOIC-8</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3473642954"/>
                  </a:ext>
                </a:extLst>
              </a:tr>
            </a:tbl>
          </a:graphicData>
        </a:graphic>
      </p:graphicFrame>
    </p:spTree>
    <p:extLst>
      <p:ext uri="{BB962C8B-B14F-4D97-AF65-F5344CB8AC3E}">
        <p14:creationId xmlns:p14="http://schemas.microsoft.com/office/powerpoint/2010/main" val="3567410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BF4B39-CBBA-9FF1-4219-9B8B4399D6EF}"/>
              </a:ext>
            </a:extLst>
          </p:cNvPr>
          <p:cNvSpPr txBox="1"/>
          <p:nvPr/>
        </p:nvSpPr>
        <p:spPr>
          <a:xfrm flipH="1">
            <a:off x="383459" y="294967"/>
            <a:ext cx="11425082" cy="532453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SOUND SENSOR MODULE :</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Hardware Architecture:</a:t>
            </a:r>
            <a:r>
              <a:rPr lang="en-US" sz="2200" dirty="0">
                <a:latin typeface="Times New Roman" panose="02020603050405020304" pitchFamily="18" charset="0"/>
                <a:cs typeface="Times New Roman" panose="02020603050405020304" pitchFamily="18" charset="0"/>
              </a:rPr>
              <a:t> Features an electret condenser microphone integrated with an LM393 voltage comparator for both digital thresholding and continuous analog output.</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Data Acquisition:</a:t>
            </a:r>
            <a:r>
              <a:rPr lang="en-US" sz="2200" dirty="0">
                <a:latin typeface="Times New Roman" panose="02020603050405020304" pitchFamily="18" charset="0"/>
                <a:cs typeface="Times New Roman" panose="02020603050405020304" pitchFamily="18" charset="0"/>
              </a:rPr>
              <a:t> The analog output is mapped to the Arduino’s </a:t>
            </a:r>
            <a:r>
              <a:rPr lang="en-US" sz="2200" b="1" dirty="0">
                <a:latin typeface="Times New Roman" panose="02020603050405020304" pitchFamily="18" charset="0"/>
                <a:cs typeface="Times New Roman" panose="02020603050405020304" pitchFamily="18" charset="0"/>
              </a:rPr>
              <a:t>A3 channel</a:t>
            </a:r>
            <a:r>
              <a:rPr lang="en-US" sz="2200" dirty="0">
                <a:latin typeface="Times New Roman" panose="02020603050405020304" pitchFamily="18" charset="0"/>
                <a:cs typeface="Times New Roman" panose="02020603050405020304" pitchFamily="18" charset="0"/>
              </a:rPr>
              <a:t>, providing a real-time measurement of acoustic pressure and energy levels.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Predictive Diagnostic Value:</a:t>
            </a:r>
            <a:r>
              <a:rPr lang="en-US" sz="2200" dirty="0">
                <a:latin typeface="Times New Roman" panose="02020603050405020304" pitchFamily="18" charset="0"/>
                <a:cs typeface="Times New Roman" panose="02020603050405020304" pitchFamily="18" charset="0"/>
              </a:rPr>
              <a:t> Enables early detection of faults that precede structural failure, such as:</a:t>
            </a:r>
          </a:p>
          <a:p>
            <a:r>
              <a:rPr lang="en-US" sz="2200" b="1" dirty="0">
                <a:latin typeface="Times New Roman" panose="02020603050405020304" pitchFamily="18" charset="0"/>
                <a:cs typeface="Times New Roman" panose="02020603050405020304" pitchFamily="18" charset="0"/>
              </a:rPr>
              <a:t>Bearing Defects:</a:t>
            </a:r>
            <a:r>
              <a:rPr lang="en-US" sz="2200" dirty="0">
                <a:latin typeface="Times New Roman" panose="02020603050405020304" pitchFamily="18" charset="0"/>
                <a:cs typeface="Times New Roman" panose="02020603050405020304" pitchFamily="18" charset="0"/>
              </a:rPr>
              <a:t> Squealing or grinding from spalled raceways.</a:t>
            </a:r>
          </a:p>
          <a:p>
            <a:r>
              <a:rPr lang="en-US" sz="2200" b="1" dirty="0">
                <a:latin typeface="Times New Roman" panose="02020603050405020304" pitchFamily="18" charset="0"/>
                <a:cs typeface="Times New Roman" panose="02020603050405020304" pitchFamily="18" charset="0"/>
              </a:rPr>
              <a:t>Gear Damage:</a:t>
            </a:r>
            <a:r>
              <a:rPr lang="en-US" sz="2200" dirty="0">
                <a:latin typeface="Times New Roman" panose="02020603050405020304" pitchFamily="18" charset="0"/>
                <a:cs typeface="Times New Roman" panose="02020603050405020304" pitchFamily="18" charset="0"/>
              </a:rPr>
              <a:t> Clicking/rattling at specific mesh frequencies.</a:t>
            </a:r>
          </a:p>
          <a:p>
            <a:r>
              <a:rPr lang="en-US" sz="2200" b="1" dirty="0">
                <a:latin typeface="Times New Roman" panose="02020603050405020304" pitchFamily="18" charset="0"/>
                <a:cs typeface="Times New Roman" panose="02020603050405020304" pitchFamily="18" charset="0"/>
              </a:rPr>
              <a:t>Pump Cavitation:</a:t>
            </a:r>
            <a:r>
              <a:rPr lang="en-US" sz="2200" dirty="0">
                <a:latin typeface="Times New Roman" panose="02020603050405020304" pitchFamily="18" charset="0"/>
                <a:cs typeface="Times New Roman" panose="02020603050405020304" pitchFamily="18" charset="0"/>
              </a:rPr>
              <a:t> Distinctive high-frequency crackling sounds.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Intelligent Alerting:</a:t>
            </a:r>
            <a:r>
              <a:rPr lang="en-US" sz="2200" dirty="0">
                <a:latin typeface="Times New Roman" panose="02020603050405020304" pitchFamily="18" charset="0"/>
                <a:cs typeface="Times New Roman" panose="02020603050405020304" pitchFamily="18" charset="0"/>
              </a:rPr>
              <a:t> Automatically triggers a </a:t>
            </a:r>
            <a:r>
              <a:rPr lang="en-US" sz="2200" b="1" dirty="0">
                <a:latin typeface="Times New Roman" panose="02020603050405020304" pitchFamily="18" charset="0"/>
                <a:cs typeface="Times New Roman" panose="02020603050405020304" pitchFamily="18" charset="0"/>
              </a:rPr>
              <a:t>"NOISE!"</a:t>
            </a:r>
            <a:r>
              <a:rPr lang="en-US" sz="2200" dirty="0">
                <a:latin typeface="Times New Roman" panose="02020603050405020304" pitchFamily="18" charset="0"/>
                <a:cs typeface="Times New Roman" panose="02020603050405020304" pitchFamily="18" charset="0"/>
              </a:rPr>
              <a:t> alert when acoustic levels exceed a predefined threshold, signaling the need for immediate operator inspection.</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Cost-Effective Scalability:</a:t>
            </a:r>
            <a:r>
              <a:rPr lang="en-US" sz="2200" dirty="0">
                <a:latin typeface="Times New Roman" panose="02020603050405020304" pitchFamily="18" charset="0"/>
                <a:cs typeface="Times New Roman" panose="02020603050405020304" pitchFamily="18" charset="0"/>
              </a:rPr>
              <a:t> Provides a low-cost "edge" detection solution while allowing raw data to be exported for advanced </a:t>
            </a:r>
            <a:r>
              <a:rPr lang="en-US" sz="2200" b="1" dirty="0">
                <a:latin typeface="Times New Roman" panose="02020603050405020304" pitchFamily="18" charset="0"/>
                <a:cs typeface="Times New Roman" panose="02020603050405020304" pitchFamily="18" charset="0"/>
              </a:rPr>
              <a:t>FFT (Fast Fourier Transform)</a:t>
            </a:r>
            <a:r>
              <a:rPr lang="en-US" sz="2200" dirty="0">
                <a:latin typeface="Times New Roman" panose="02020603050405020304" pitchFamily="18" charset="0"/>
                <a:cs typeface="Times New Roman" panose="02020603050405020304" pitchFamily="18" charset="0"/>
              </a:rPr>
              <a:t> or ML-based pattern recognition on cloud platforms.</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6D1B733-020F-464A-1230-9388CC736CAD}"/>
              </a:ext>
            </a:extLst>
          </p:cNvPr>
          <p:cNvPicPr>
            <a:picLocks noChangeAspect="1"/>
          </p:cNvPicPr>
          <p:nvPr/>
        </p:nvPicPr>
        <p:blipFill>
          <a:blip r:embed="rId2"/>
          <a:stretch>
            <a:fillRect/>
          </a:stretch>
        </p:blipFill>
        <p:spPr>
          <a:xfrm>
            <a:off x="8424050" y="2561438"/>
            <a:ext cx="2890085" cy="1371466"/>
          </a:xfrm>
          <a:prstGeom prst="rect">
            <a:avLst/>
          </a:prstGeom>
        </p:spPr>
      </p:pic>
    </p:spTree>
    <p:extLst>
      <p:ext uri="{BB962C8B-B14F-4D97-AF65-F5344CB8AC3E}">
        <p14:creationId xmlns:p14="http://schemas.microsoft.com/office/powerpoint/2010/main" val="3085457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9666" y="102508"/>
            <a:ext cx="11267002" cy="642679"/>
          </a:xfrm>
        </p:spPr>
        <p:txBody>
          <a:bodyPr>
            <a:normAutofit/>
          </a:bodyPr>
          <a:lstStyle/>
          <a:p>
            <a:pPr algn="l"/>
            <a:r>
              <a:rPr lang="en-US" sz="3200" b="1" dirty="0">
                <a:latin typeface="Times New Roman" panose="02020603050405020304" pitchFamily="18" charset="0"/>
                <a:cs typeface="Times New Roman" panose="02020603050405020304" pitchFamily="18" charset="0"/>
              </a:rPr>
              <a:t>POWER SUPPLY :</a:t>
            </a:r>
            <a:endParaRPr lang="en-IN"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09666" y="968121"/>
            <a:ext cx="11267002" cy="3600400"/>
          </a:xfrm>
        </p:spPr>
        <p:txBody>
          <a:bodyPr>
            <a:noAutofit/>
          </a:bodyPr>
          <a:lstStyle/>
          <a:p>
            <a:pPr algn="just"/>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 A power supply is </a:t>
            </a:r>
            <a:r>
              <a:rPr lang="en-IN" sz="2800" b="1" dirty="0">
                <a:solidFill>
                  <a:schemeClr val="tx1">
                    <a:lumMod val="85000"/>
                    <a:lumOff val="15000"/>
                  </a:schemeClr>
                </a:solidFill>
                <a:latin typeface="Times New Roman" panose="02020603050405020304" pitchFamily="18" charset="0"/>
                <a:cs typeface="Times New Roman" panose="02020603050405020304" pitchFamily="18" charset="0"/>
              </a:rPr>
              <a:t>a device that converts one voltage to another more convenient voltage while delivering power</a:t>
            </a:r>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 Power supplies are designed from the output back to the input</a:t>
            </a:r>
            <a:r>
              <a:rPr lang="en-IN" sz="2800" dirty="0">
                <a:latin typeface="Times New Roman" panose="02020603050405020304" pitchFamily="18" charset="0"/>
                <a:cs typeface="Times New Roman" panose="02020603050405020304" pitchFamily="18" charset="0"/>
              </a:rPr>
              <a:t>.</a:t>
            </a:r>
          </a:p>
          <a:p>
            <a:pPr algn="just"/>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There are three major kinds of power supplies: unregulated (also called brute force), linear regulated, and switching. The fourth type of power supply circuit called the ripple-regulated, is a hybrid between the “brute force” and “switching” designs, and merits a subsection to itself.</a:t>
            </a:r>
          </a:p>
          <a:p>
            <a:pPr algn="just"/>
            <a:endParaRPr lang="en-IN" sz="2800"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0F4E3EF-59C8-C94B-6ACA-DBF8E8CAA271}"/>
              </a:ext>
            </a:extLst>
          </p:cNvPr>
          <p:cNvPicPr>
            <a:picLocks noChangeAspect="1"/>
          </p:cNvPicPr>
          <p:nvPr/>
        </p:nvPicPr>
        <p:blipFill>
          <a:blip r:embed="rId2"/>
          <a:stretch>
            <a:fillRect/>
          </a:stretch>
        </p:blipFill>
        <p:spPr>
          <a:xfrm>
            <a:off x="4295286" y="4089679"/>
            <a:ext cx="3695761" cy="2449504"/>
          </a:xfrm>
          <a:prstGeom prst="rect">
            <a:avLst/>
          </a:prstGeom>
        </p:spPr>
      </p:pic>
    </p:spTree>
    <p:extLst>
      <p:ext uri="{BB962C8B-B14F-4D97-AF65-F5344CB8AC3E}">
        <p14:creationId xmlns:p14="http://schemas.microsoft.com/office/powerpoint/2010/main" val="3481289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436" y="-72232"/>
            <a:ext cx="10515600" cy="1325563"/>
          </a:xfrm>
        </p:spPr>
        <p:txBody>
          <a:bodyPr>
            <a:normAutofit/>
          </a:bodyPr>
          <a:lstStyle/>
          <a:p>
            <a:r>
              <a:rPr lang="en-US" sz="3200" b="1" dirty="0">
                <a:latin typeface="Times New Roman" panose="02020603050405020304" pitchFamily="18" charset="0"/>
                <a:cs typeface="Times New Roman" panose="02020603050405020304" pitchFamily="18" charset="0"/>
              </a:rPr>
              <a:t>WORKING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8436" y="997692"/>
            <a:ext cx="10515600" cy="4351338"/>
          </a:xfrm>
        </p:spPr>
        <p:txBody>
          <a:bodyPr>
            <a:noAutofit/>
          </a:bodyPr>
          <a:lstStyle/>
          <a:p>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 The AC voltage is connected to a transformer, which steps that ac voltage down to the level for the desired dc output. </a:t>
            </a:r>
          </a:p>
          <a:p>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A diode rectifier then provides a full-wave rectified voltage. </a:t>
            </a:r>
          </a:p>
          <a:p>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This is initially filtered by a simple capacitor filter to produce a dc voltage. </a:t>
            </a:r>
          </a:p>
          <a:p>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This resulting dc voltage usually has some ripple or ac voltage regulation. </a:t>
            </a:r>
          </a:p>
          <a:p>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 A regulator circuit can use this dc input to provide a dc voltage that not only has much less ripple voltage but also remains the same dc value even if the input dc voltage varies somewhat or the load connected to the output dc voltage changes. </a:t>
            </a:r>
          </a:p>
          <a:p>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This voltage regulation is usually obtained using one of the voltage regulator IC units.</a:t>
            </a:r>
          </a:p>
          <a:p>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506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568" y="0"/>
            <a:ext cx="10830232" cy="1013970"/>
          </a:xfrm>
        </p:spPr>
        <p:txBody>
          <a:bodyPr>
            <a:normAutofit/>
          </a:bodyPr>
          <a:lstStyle/>
          <a:p>
            <a:r>
              <a:rPr lang="en-US" sz="3200" b="1" dirty="0">
                <a:latin typeface="Times New Roman" panose="02020603050405020304" pitchFamily="18" charset="0"/>
                <a:cs typeface="Times New Roman" panose="02020603050405020304" pitchFamily="18" charset="0"/>
              </a:rPr>
              <a:t>SKETCH :</a:t>
            </a:r>
          </a:p>
        </p:txBody>
      </p:sp>
      <p:sp>
        <p:nvSpPr>
          <p:cNvPr id="3" name="Content Placeholder 2"/>
          <p:cNvSpPr>
            <a:spLocks noGrp="1"/>
          </p:cNvSpPr>
          <p:nvPr>
            <p:ph idx="1"/>
          </p:nvPr>
        </p:nvSpPr>
        <p:spPr>
          <a:xfrm>
            <a:off x="523568" y="1013970"/>
            <a:ext cx="5415116" cy="4707072"/>
          </a:xfrm>
        </p:spPr>
        <p:txBody>
          <a:bodyPr>
            <a:normAutofit/>
          </a:bodyPr>
          <a:lstStyle/>
          <a:p>
            <a:pPr>
              <a:lnSpc>
                <a:spcPct val="120000"/>
              </a:lnSpc>
            </a:pPr>
            <a:r>
              <a:rPr lang="en-US" sz="2400" dirty="0">
                <a:latin typeface="Times New Roman" panose="02020603050405020304" pitchFamily="18" charset="0"/>
                <a:cs typeface="Times New Roman" panose="02020603050405020304" pitchFamily="18" charset="0"/>
              </a:rPr>
              <a:t>A sketch is an Arduino program uploaded to the board.</a:t>
            </a:r>
          </a:p>
          <a:p>
            <a:pPr>
              <a:lnSpc>
                <a:spcPct val="120000"/>
              </a:lnSpc>
            </a:pPr>
            <a:r>
              <a:rPr lang="en-US" sz="2400" dirty="0">
                <a:latin typeface="Times New Roman" panose="02020603050405020304" pitchFamily="18" charset="0"/>
                <a:cs typeface="Times New Roman" panose="02020603050405020304" pitchFamily="18" charset="0"/>
              </a:rPr>
              <a:t>Contains instructions the microcontroller executes.</a:t>
            </a:r>
          </a:p>
          <a:p>
            <a:pPr>
              <a:lnSpc>
                <a:spcPct val="120000"/>
              </a:lnSpc>
            </a:pPr>
            <a:r>
              <a:rPr lang="en-US" sz="2400" dirty="0">
                <a:latin typeface="Times New Roman" panose="02020603050405020304" pitchFamily="18" charset="0"/>
                <a:cs typeface="Times New Roman" panose="02020603050405020304" pitchFamily="18" charset="0"/>
              </a:rPr>
              <a:t>Basic structure includes:</a:t>
            </a:r>
          </a:p>
          <a:p>
            <a:pPr>
              <a:lnSpc>
                <a:spcPct val="120000"/>
              </a:lnSpc>
            </a:pPr>
            <a:r>
              <a:rPr lang="en-US" sz="2400" dirty="0">
                <a:latin typeface="Times New Roman" panose="02020603050405020304" pitchFamily="18" charset="0"/>
                <a:cs typeface="Times New Roman" panose="02020603050405020304" pitchFamily="18" charset="0"/>
              </a:rPr>
              <a:t>setup() – runs once for initialization</a:t>
            </a:r>
          </a:p>
          <a:p>
            <a:pPr>
              <a:lnSpc>
                <a:spcPct val="120000"/>
              </a:lnSpc>
            </a:pPr>
            <a:r>
              <a:rPr lang="en-US" sz="2400" dirty="0">
                <a:latin typeface="Times New Roman" panose="02020603050405020304" pitchFamily="18" charset="0"/>
                <a:cs typeface="Times New Roman" panose="02020603050405020304" pitchFamily="18" charset="0"/>
              </a:rPr>
              <a:t>loop() – runs repeatedly</a:t>
            </a:r>
          </a:p>
          <a:p>
            <a:pPr>
              <a:lnSpc>
                <a:spcPct val="120000"/>
              </a:lnSpc>
            </a:pPr>
            <a:r>
              <a:rPr lang="en-US" sz="2400" dirty="0">
                <a:latin typeface="Times New Roman" panose="02020603050405020304" pitchFamily="18" charset="0"/>
                <a:cs typeface="Times New Roman" panose="02020603050405020304" pitchFamily="18" charset="0"/>
              </a:rPr>
              <a:t>Uses functions, variables, and logic to control hardware.</a:t>
            </a:r>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FBCF14C-12B6-7362-7099-A84A5E372158}"/>
              </a:ext>
            </a:extLst>
          </p:cNvPr>
          <p:cNvSpPr txBox="1"/>
          <p:nvPr/>
        </p:nvSpPr>
        <p:spPr>
          <a:xfrm>
            <a:off x="5938684" y="1013970"/>
            <a:ext cx="5781368" cy="5539978"/>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Key Functions :</a:t>
            </a:r>
          </a:p>
          <a:p>
            <a:pPr marL="342900" indent="-342900">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pinMode</a:t>
            </a:r>
            <a:r>
              <a:rPr lang="en-US" sz="2000" dirty="0">
                <a:latin typeface="Times New Roman" panose="02020603050405020304" pitchFamily="18" charset="0"/>
                <a:cs typeface="Times New Roman" panose="02020603050405020304" pitchFamily="18" charset="0"/>
              </a:rPr>
              <a:t>(pin, mode): Sets pin as INPUT or OUTPUT.</a:t>
            </a:r>
          </a:p>
          <a:p>
            <a:pPr marL="342900" indent="-342900">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digitalWrite</a:t>
            </a:r>
            <a:r>
              <a:rPr lang="en-US" sz="2000" dirty="0">
                <a:latin typeface="Times New Roman" panose="02020603050405020304" pitchFamily="18" charset="0"/>
                <a:cs typeface="Times New Roman" panose="02020603050405020304" pitchFamily="18" charset="0"/>
              </a:rPr>
              <a:t>(pin, value): Sends HIGH or LOW signal.</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delay(</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Pauses program for specified milliseconds.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Example (Blink LED):</a:t>
            </a:r>
          </a:p>
          <a:p>
            <a:pPr>
              <a:lnSpc>
                <a:spcPct val="150000"/>
              </a:lnSpc>
            </a:pPr>
            <a:r>
              <a:rPr lang="en-US" sz="2000" dirty="0" err="1">
                <a:latin typeface="Times New Roman" panose="02020603050405020304" pitchFamily="18" charset="0"/>
                <a:cs typeface="Times New Roman" panose="02020603050405020304" pitchFamily="18" charset="0"/>
              </a:rPr>
              <a:t>pinMode</a:t>
            </a:r>
            <a:r>
              <a:rPr lang="en-US" sz="2000" dirty="0">
                <a:latin typeface="Times New Roman" panose="02020603050405020304" pitchFamily="18" charset="0"/>
                <a:cs typeface="Times New Roman" panose="02020603050405020304" pitchFamily="18" charset="0"/>
              </a:rPr>
              <a:t>(13, OUTPUT);</a:t>
            </a:r>
          </a:p>
          <a:p>
            <a:pPr>
              <a:lnSpc>
                <a:spcPct val="150000"/>
              </a:lnSpc>
            </a:pPr>
            <a:r>
              <a:rPr lang="en-US" sz="2000" dirty="0" err="1">
                <a:latin typeface="Times New Roman" panose="02020603050405020304" pitchFamily="18" charset="0"/>
                <a:cs typeface="Times New Roman" panose="02020603050405020304" pitchFamily="18" charset="0"/>
              </a:rPr>
              <a:t>digitalWrite</a:t>
            </a:r>
            <a:r>
              <a:rPr lang="en-US" sz="2000" dirty="0">
                <a:latin typeface="Times New Roman" panose="02020603050405020304" pitchFamily="18" charset="0"/>
                <a:cs typeface="Times New Roman" panose="02020603050405020304" pitchFamily="18" charset="0"/>
              </a:rPr>
              <a:t>(13, HIGH);</a:t>
            </a:r>
          </a:p>
          <a:p>
            <a:pPr>
              <a:lnSpc>
                <a:spcPct val="150000"/>
              </a:lnSpc>
            </a:pPr>
            <a:r>
              <a:rPr lang="en-US" sz="2000" dirty="0">
                <a:latin typeface="Times New Roman" panose="02020603050405020304" pitchFamily="18" charset="0"/>
                <a:cs typeface="Times New Roman" panose="02020603050405020304" pitchFamily="18" charset="0"/>
              </a:rPr>
              <a:t>delay(1000);</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968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CCDEFE-AE48-1F36-7A2C-87B6EACCDE8D}"/>
              </a:ext>
            </a:extLst>
          </p:cNvPr>
          <p:cNvSpPr txBox="1"/>
          <p:nvPr/>
        </p:nvSpPr>
        <p:spPr>
          <a:xfrm>
            <a:off x="309716" y="-9834"/>
            <a:ext cx="11572568" cy="954107"/>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RESULT</a:t>
            </a:r>
          </a:p>
          <a:p>
            <a:r>
              <a:rPr lang="en-IN" sz="2400" b="1" dirty="0">
                <a:latin typeface="Times New Roman" panose="02020603050405020304" pitchFamily="18" charset="0"/>
                <a:cs typeface="Times New Roman" panose="02020603050405020304" pitchFamily="18" charset="0"/>
              </a:rPr>
              <a:t>EXPERIMENTAL RESULTS SUMMARY :</a:t>
            </a:r>
            <a:endParaRPr lang="en-IN" sz="40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CDC617D-3F9C-ED43-3500-EBC5EE13D432}"/>
              </a:ext>
            </a:extLst>
          </p:cNvPr>
          <p:cNvGraphicFramePr>
            <a:graphicFrameLocks noGrp="1"/>
          </p:cNvGraphicFramePr>
          <p:nvPr>
            <p:extLst>
              <p:ext uri="{D42A27DB-BD31-4B8C-83A1-F6EECF244321}">
                <p14:modId xmlns:p14="http://schemas.microsoft.com/office/powerpoint/2010/main" val="3558702494"/>
              </p:ext>
            </p:extLst>
          </p:nvPr>
        </p:nvGraphicFramePr>
        <p:xfrm>
          <a:off x="1012722" y="1096295"/>
          <a:ext cx="10166555" cy="5098117"/>
        </p:xfrm>
        <a:graphic>
          <a:graphicData uri="http://schemas.openxmlformats.org/drawingml/2006/table">
            <a:tbl>
              <a:tblPr firstRow="1" bandRow="1">
                <a:tableStyleId>{5C22544A-7EE6-4342-B048-85BDC9FD1C3A}</a:tableStyleId>
              </a:tblPr>
              <a:tblGrid>
                <a:gridCol w="2033311">
                  <a:extLst>
                    <a:ext uri="{9D8B030D-6E8A-4147-A177-3AD203B41FA5}">
                      <a16:colId xmlns:a16="http://schemas.microsoft.com/office/drawing/2014/main" val="4087612892"/>
                    </a:ext>
                  </a:extLst>
                </a:gridCol>
                <a:gridCol w="2033311">
                  <a:extLst>
                    <a:ext uri="{9D8B030D-6E8A-4147-A177-3AD203B41FA5}">
                      <a16:colId xmlns:a16="http://schemas.microsoft.com/office/drawing/2014/main" val="1583916452"/>
                    </a:ext>
                  </a:extLst>
                </a:gridCol>
                <a:gridCol w="2033311">
                  <a:extLst>
                    <a:ext uri="{9D8B030D-6E8A-4147-A177-3AD203B41FA5}">
                      <a16:colId xmlns:a16="http://schemas.microsoft.com/office/drawing/2014/main" val="682522400"/>
                    </a:ext>
                  </a:extLst>
                </a:gridCol>
                <a:gridCol w="2033311">
                  <a:extLst>
                    <a:ext uri="{9D8B030D-6E8A-4147-A177-3AD203B41FA5}">
                      <a16:colId xmlns:a16="http://schemas.microsoft.com/office/drawing/2014/main" val="1787071384"/>
                    </a:ext>
                  </a:extLst>
                </a:gridCol>
                <a:gridCol w="2033311">
                  <a:extLst>
                    <a:ext uri="{9D8B030D-6E8A-4147-A177-3AD203B41FA5}">
                      <a16:colId xmlns:a16="http://schemas.microsoft.com/office/drawing/2014/main" val="930596853"/>
                    </a:ext>
                  </a:extLst>
                </a:gridCol>
              </a:tblGrid>
              <a:tr h="666487">
                <a:tc>
                  <a:txBody>
                    <a:bodyPr/>
                    <a:lstStyle/>
                    <a:p>
                      <a:pPr indent="226695" algn="ctr">
                        <a:lnSpc>
                          <a:spcPct val="150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Fault Condition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Threshold Value</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b="1" kern="100">
                          <a:effectLst/>
                          <a:latin typeface="Times New Roman" panose="02020603050405020304" pitchFamily="18" charset="0"/>
                          <a:ea typeface="Aptos" panose="020B0004020202020204" pitchFamily="34" charset="0"/>
                          <a:cs typeface="Times New Roman" panose="02020603050405020304" pitchFamily="18" charset="0"/>
                        </a:rPr>
                        <a:t>Simulated Value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b="1" kern="100">
                          <a:effectLst/>
                          <a:latin typeface="Times New Roman" panose="02020603050405020304" pitchFamily="18" charset="0"/>
                          <a:ea typeface="Aptos" panose="020B0004020202020204" pitchFamily="34" charset="0"/>
                          <a:cs typeface="Times New Roman" panose="02020603050405020304" pitchFamily="18" charset="0"/>
                        </a:rPr>
                        <a:t>Detection Time (s)</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b="1" kern="100">
                          <a:effectLst/>
                          <a:latin typeface="Times New Roman" panose="02020603050405020304" pitchFamily="18" charset="0"/>
                          <a:ea typeface="Aptos" panose="020B0004020202020204" pitchFamily="34" charset="0"/>
                          <a:cs typeface="Times New Roman" panose="02020603050405020304" pitchFamily="18" charset="0"/>
                        </a:rPr>
                        <a:t>Alert Displayed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3194036474"/>
                  </a:ext>
                </a:extLst>
              </a:tr>
              <a:tr h="666487">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Tilt/Vibration</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&gt; 15°</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20°</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&lt; 1.5</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TILT!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4007392896"/>
                  </a:ext>
                </a:extLst>
              </a:tr>
              <a:tr h="666487">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Temperature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&gt; 60°C</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67°C</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&lt; 2.0</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HOT!</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3674349035"/>
                  </a:ext>
                </a:extLst>
              </a:tr>
              <a:tr h="666487">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Acoustic Noise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&gt; 600 ADC</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720 ADC</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&lt; 1.0</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NOISE!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1520855495"/>
                  </a:ext>
                </a:extLst>
              </a:tr>
              <a:tr h="666487">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Current Overload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&gt; 3.0 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3.4 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&lt; 1.5</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OVERLOAD!</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3143587410"/>
                  </a:ext>
                </a:extLst>
              </a:tr>
              <a:tr h="666487">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Under-voltage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&lt; 10.8 V</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9.5 V</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&lt; 1.0</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VOLT ERR!</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3288230251"/>
                  </a:ext>
                </a:extLst>
              </a:tr>
              <a:tr h="666487">
                <a:tc>
                  <a:txBody>
                    <a:bodyPr/>
                    <a:lstStyle/>
                    <a:p>
                      <a:pPr indent="226695" algn="ctr">
                        <a:lnSpc>
                          <a:spcPct val="150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Normal Operation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All within range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All within range</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N/A</a:t>
                      </a:r>
                      <a:endParaRPr lang="en-IN" sz="1600" kern="10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tc>
                  <a:txBody>
                    <a:bodyPr/>
                    <a:lstStyle/>
                    <a:p>
                      <a:pPr indent="226695" algn="ctr">
                        <a:lnSpc>
                          <a:spcPct val="150000"/>
                        </a:lnSpc>
                        <a:spcAft>
                          <a:spcPts val="800"/>
                        </a:spcAf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System OK</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6200" marR="76200" marT="50800" marB="50800"/>
                </a:tc>
                <a:extLst>
                  <a:ext uri="{0D108BD9-81ED-4DB2-BD59-A6C34878D82A}">
                    <a16:rowId xmlns:a16="http://schemas.microsoft.com/office/drawing/2014/main" val="2429494855"/>
                  </a:ext>
                </a:extLst>
              </a:tr>
            </a:tbl>
          </a:graphicData>
        </a:graphic>
      </p:graphicFrame>
    </p:spTree>
    <p:extLst>
      <p:ext uri="{BB962C8B-B14F-4D97-AF65-F5344CB8AC3E}">
        <p14:creationId xmlns:p14="http://schemas.microsoft.com/office/powerpoint/2010/main" val="1976269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0" y="0"/>
            <a:ext cx="12191365" cy="6858635"/>
          </a:xfrm>
          <a:prstGeom prst="rect">
            <a:avLst/>
          </a:prstGeom>
          <a:noFill/>
        </p:spPr>
        <p:txBody>
          <a:bodyPr wrap="square" rtlCol="0">
            <a:noAutofit/>
          </a:bodyPr>
          <a:lstStyle/>
          <a:p>
            <a:pPr algn="ctr"/>
            <a:r>
              <a:rPr lang="en-GB" altLang="en-US" sz="3200" b="1" dirty="0">
                <a:latin typeface="Times New Roman" panose="02020603050405020304" pitchFamily="18" charset="0"/>
                <a:cs typeface="Times New Roman" panose="02020603050405020304" pitchFamily="18" charset="0"/>
              </a:rPr>
              <a:t>RESULT</a:t>
            </a:r>
            <a:endParaRPr lang="en-GB" altLang="en-US" sz="36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rcRect t="2531" r="55953"/>
          <a:stretch>
            <a:fillRect/>
          </a:stretch>
        </p:blipFill>
        <p:spPr>
          <a:xfrm>
            <a:off x="635" y="481781"/>
            <a:ext cx="5927725" cy="6376219"/>
          </a:xfrm>
          <a:prstGeom prst="rect">
            <a:avLst/>
          </a:prstGeom>
        </p:spPr>
      </p:pic>
      <p:pic>
        <p:nvPicPr>
          <p:cNvPr id="4" name="Picture 3"/>
          <p:cNvPicPr>
            <a:picLocks noChangeAspect="1"/>
          </p:cNvPicPr>
          <p:nvPr/>
        </p:nvPicPr>
        <p:blipFill>
          <a:blip r:embed="rId4"/>
          <a:srcRect t="2531" r="55950"/>
          <a:stretch>
            <a:fillRect/>
          </a:stretch>
        </p:blipFill>
        <p:spPr>
          <a:xfrm>
            <a:off x="5927725" y="481781"/>
            <a:ext cx="6263640" cy="6376219"/>
          </a:xfrm>
          <a:prstGeom prst="rect">
            <a:avLst/>
          </a:prstGeom>
        </p:spPr>
      </p:pic>
    </p:spTree>
    <p:extLst>
      <p:ext uri="{BB962C8B-B14F-4D97-AF65-F5344CB8AC3E}">
        <p14:creationId xmlns:p14="http://schemas.microsoft.com/office/powerpoint/2010/main" val="3243931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screen with purple text&#10;&#10;AI-generated content may be incorrect.">
            <a:extLst>
              <a:ext uri="{FF2B5EF4-FFF2-40B4-BE49-F238E27FC236}">
                <a16:creationId xmlns:a16="http://schemas.microsoft.com/office/drawing/2014/main" id="{3AB4EFD3-1A0D-79B7-08A2-ECAEC4E4F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168" y="1655885"/>
            <a:ext cx="4598308" cy="2198360"/>
          </a:xfrm>
          <a:prstGeom prst="rect">
            <a:avLst/>
          </a:prstGeom>
        </p:spPr>
      </p:pic>
      <p:sp>
        <p:nvSpPr>
          <p:cNvPr id="4" name="TextBox 3">
            <a:extLst>
              <a:ext uri="{FF2B5EF4-FFF2-40B4-BE49-F238E27FC236}">
                <a16:creationId xmlns:a16="http://schemas.microsoft.com/office/drawing/2014/main" id="{7B718012-AAE1-4C57-0EEC-E23CA3D36264}"/>
              </a:ext>
            </a:extLst>
          </p:cNvPr>
          <p:cNvSpPr txBox="1"/>
          <p:nvPr/>
        </p:nvSpPr>
        <p:spPr>
          <a:xfrm>
            <a:off x="401933" y="877026"/>
            <a:ext cx="11388131"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LCD Display Outputs:</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EA938A-B224-EE8D-27B5-BE97211A509F}"/>
              </a:ext>
            </a:extLst>
          </p:cNvPr>
          <p:cNvSpPr txBox="1"/>
          <p:nvPr/>
        </p:nvSpPr>
        <p:spPr>
          <a:xfrm flipH="1">
            <a:off x="401932" y="-19948"/>
            <a:ext cx="1138813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RESULT</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3AEBF4D-6CD7-0D16-D66F-81ED74883E6F}"/>
              </a:ext>
            </a:extLst>
          </p:cNvPr>
          <p:cNvSpPr txBox="1"/>
          <p:nvPr/>
        </p:nvSpPr>
        <p:spPr>
          <a:xfrm>
            <a:off x="6095998" y="855094"/>
            <a:ext cx="4182492"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IOT Dashboard Outputs :</a:t>
            </a:r>
          </a:p>
        </p:txBody>
      </p:sp>
      <p:pic>
        <p:nvPicPr>
          <p:cNvPr id="8" name="Picture 7" descr="A screenshot of a white sheet&#10;&#10;AI-generated content may be incorrect.">
            <a:extLst>
              <a:ext uri="{FF2B5EF4-FFF2-40B4-BE49-F238E27FC236}">
                <a16:creationId xmlns:a16="http://schemas.microsoft.com/office/drawing/2014/main" id="{4791121A-EC67-A62A-75BB-6927AFC3ABE5}"/>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7185809" y="1439869"/>
            <a:ext cx="3554277" cy="4841057"/>
          </a:xfrm>
          <a:prstGeom prst="rect">
            <a:avLst/>
          </a:prstGeom>
        </p:spPr>
      </p:pic>
      <p:pic>
        <p:nvPicPr>
          <p:cNvPr id="10" name="Picture 9" descr="A close-up of a digital display&#10;&#10;AI-generated content may be incorrect.">
            <a:extLst>
              <a:ext uri="{FF2B5EF4-FFF2-40B4-BE49-F238E27FC236}">
                <a16:creationId xmlns:a16="http://schemas.microsoft.com/office/drawing/2014/main" id="{E232B523-FC84-F226-7336-0624CFA89C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0168" y="4109884"/>
            <a:ext cx="4598308" cy="2213482"/>
          </a:xfrm>
          <a:prstGeom prst="rect">
            <a:avLst/>
          </a:prstGeom>
        </p:spPr>
      </p:pic>
    </p:spTree>
    <p:extLst>
      <p:ext uri="{BB962C8B-B14F-4D97-AF65-F5344CB8AC3E}">
        <p14:creationId xmlns:p14="http://schemas.microsoft.com/office/powerpoint/2010/main" val="2211217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ED80-9EDF-B559-5A98-53E5337A589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4DD4FB-497F-D628-2763-64D569EE9390}"/>
              </a:ext>
            </a:extLst>
          </p:cNvPr>
          <p:cNvPicPr>
            <a:picLocks noChangeAspect="1"/>
          </p:cNvPicPr>
          <p:nvPr/>
        </p:nvPicPr>
        <p:blipFill>
          <a:blip r:embed="rId2">
            <a:extLst>
              <a:ext uri="{28A0092B-C50C-407E-A947-70E740481C1C}">
                <a14:useLocalDpi xmlns:a14="http://schemas.microsoft.com/office/drawing/2010/main" val="0"/>
              </a:ext>
            </a:extLst>
          </a:blip>
          <a:srcRect r="42709" b="69964"/>
          <a:stretch>
            <a:fillRect/>
          </a:stretch>
        </p:blipFill>
        <p:spPr>
          <a:xfrm>
            <a:off x="575032" y="1998445"/>
            <a:ext cx="3171058" cy="1728657"/>
          </a:xfrm>
          <a:prstGeom prst="rect">
            <a:avLst/>
          </a:prstGeom>
        </p:spPr>
      </p:pic>
      <p:sp>
        <p:nvSpPr>
          <p:cNvPr id="4" name="TextBox 3">
            <a:extLst>
              <a:ext uri="{FF2B5EF4-FFF2-40B4-BE49-F238E27FC236}">
                <a16:creationId xmlns:a16="http://schemas.microsoft.com/office/drawing/2014/main" id="{88510F18-C864-07A1-6B3A-8522FD7C4C25}"/>
              </a:ext>
            </a:extLst>
          </p:cNvPr>
          <p:cNvSpPr txBox="1"/>
          <p:nvPr/>
        </p:nvSpPr>
        <p:spPr>
          <a:xfrm>
            <a:off x="401933" y="877026"/>
            <a:ext cx="11388131" cy="353943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Program Runtime Output :</a:t>
            </a:r>
          </a:p>
          <a:p>
            <a:r>
              <a:rPr lang="en-US" sz="2800" b="1" dirty="0">
                <a:latin typeface="Times New Roman" panose="02020603050405020304" pitchFamily="18" charset="0"/>
                <a:cs typeface="Times New Roman" panose="02020603050405020304" pitchFamily="18" charset="0"/>
              </a:rPr>
              <a:t>Normal Condition:</a:t>
            </a: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Abnormal Condition :</a:t>
            </a:r>
          </a:p>
        </p:txBody>
      </p:sp>
      <p:sp>
        <p:nvSpPr>
          <p:cNvPr id="5" name="TextBox 4">
            <a:extLst>
              <a:ext uri="{FF2B5EF4-FFF2-40B4-BE49-F238E27FC236}">
                <a16:creationId xmlns:a16="http://schemas.microsoft.com/office/drawing/2014/main" id="{970BE192-DEED-F527-928F-4CE03DF0C72A}"/>
              </a:ext>
            </a:extLst>
          </p:cNvPr>
          <p:cNvSpPr txBox="1"/>
          <p:nvPr/>
        </p:nvSpPr>
        <p:spPr>
          <a:xfrm flipH="1">
            <a:off x="401933" y="148049"/>
            <a:ext cx="1138813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RESULT</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CCE370A-928F-5A46-B34D-77A472321B32}"/>
              </a:ext>
            </a:extLst>
          </p:cNvPr>
          <p:cNvSpPr txBox="1"/>
          <p:nvPr/>
        </p:nvSpPr>
        <p:spPr>
          <a:xfrm>
            <a:off x="5240591" y="877026"/>
            <a:ext cx="2178225"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Email Alert :</a:t>
            </a:r>
          </a:p>
        </p:txBody>
      </p:sp>
      <p:pic>
        <p:nvPicPr>
          <p:cNvPr id="8" name="Picture 7">
            <a:extLst>
              <a:ext uri="{FF2B5EF4-FFF2-40B4-BE49-F238E27FC236}">
                <a16:creationId xmlns:a16="http://schemas.microsoft.com/office/drawing/2014/main" id="{882D4F1D-6541-4072-3A28-79039C8F1969}"/>
              </a:ext>
            </a:extLst>
          </p:cNvPr>
          <p:cNvPicPr>
            <a:picLocks noChangeAspect="1"/>
          </p:cNvPicPr>
          <p:nvPr/>
        </p:nvPicPr>
        <p:blipFill>
          <a:blip r:embed="rId3">
            <a:extLst>
              <a:ext uri="{28A0092B-C50C-407E-A947-70E740481C1C}">
                <a14:useLocalDpi xmlns:a14="http://schemas.microsoft.com/office/drawing/2010/main" val="0"/>
              </a:ext>
            </a:extLst>
          </a:blip>
          <a:srcRect l="1" t="3929" r="-1" b="34688"/>
          <a:stretch>
            <a:fillRect/>
          </a:stretch>
        </p:blipFill>
        <p:spPr>
          <a:xfrm>
            <a:off x="6933123" y="1422178"/>
            <a:ext cx="3911858" cy="4744139"/>
          </a:xfrm>
          <a:prstGeom prst="rect">
            <a:avLst/>
          </a:prstGeom>
        </p:spPr>
      </p:pic>
      <p:pic>
        <p:nvPicPr>
          <p:cNvPr id="9" name="Picture 8">
            <a:extLst>
              <a:ext uri="{FF2B5EF4-FFF2-40B4-BE49-F238E27FC236}">
                <a16:creationId xmlns:a16="http://schemas.microsoft.com/office/drawing/2014/main" id="{8E8F7566-C079-F031-C92E-049304D01F17}"/>
              </a:ext>
            </a:extLst>
          </p:cNvPr>
          <p:cNvPicPr>
            <a:picLocks noChangeAspect="1"/>
          </p:cNvPicPr>
          <p:nvPr/>
        </p:nvPicPr>
        <p:blipFill>
          <a:blip r:embed="rId4">
            <a:extLst>
              <a:ext uri="{28A0092B-C50C-407E-A947-70E740481C1C}">
                <a14:useLocalDpi xmlns:a14="http://schemas.microsoft.com/office/drawing/2010/main" val="0"/>
              </a:ext>
            </a:extLst>
          </a:blip>
          <a:srcRect t="1631" r="51592" b="68889"/>
          <a:stretch>
            <a:fillRect/>
          </a:stretch>
        </p:blipFill>
        <p:spPr>
          <a:xfrm>
            <a:off x="575032" y="4550434"/>
            <a:ext cx="2915420" cy="1726946"/>
          </a:xfrm>
          <a:prstGeom prst="rect">
            <a:avLst/>
          </a:prstGeom>
        </p:spPr>
      </p:pic>
    </p:spTree>
    <p:extLst>
      <p:ext uri="{BB962C8B-B14F-4D97-AF65-F5344CB8AC3E}">
        <p14:creationId xmlns:p14="http://schemas.microsoft.com/office/powerpoint/2010/main" val="1496788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F52FBA-4EB5-6214-3502-2D28E39388A0}"/>
              </a:ext>
            </a:extLst>
          </p:cNvPr>
          <p:cNvSpPr txBox="1"/>
          <p:nvPr/>
        </p:nvSpPr>
        <p:spPr>
          <a:xfrm>
            <a:off x="293920" y="0"/>
            <a:ext cx="11407514" cy="5386090"/>
          </a:xfrm>
          <a:prstGeom prst="rect">
            <a:avLst/>
          </a:prstGeom>
          <a:noFill/>
        </p:spPr>
        <p:txBody>
          <a:bodyPr wrap="square">
            <a:spAutoFit/>
          </a:bodyPr>
          <a:lstStyle/>
          <a:p>
            <a:pPr algn="ctr">
              <a:buNone/>
            </a:pPr>
            <a:r>
              <a:rPr lang="en-US" sz="3200" b="1" dirty="0">
                <a:latin typeface="Times New Roman" panose="02020603050405020304" pitchFamily="18" charset="0"/>
                <a:cs typeface="Times New Roman" panose="02020603050405020304" pitchFamily="18" charset="0"/>
              </a:rPr>
              <a:t>CONCLUSION</a:t>
            </a:r>
          </a:p>
          <a:p>
            <a:pPr algn="just">
              <a:buNone/>
            </a:pPr>
            <a:r>
              <a:rPr lang="en-US" sz="2800" dirty="0">
                <a:latin typeface="Times New Roman" panose="02020603050405020304" pitchFamily="18" charset="0"/>
                <a:cs typeface="Times New Roman" panose="02020603050405020304" pitchFamily="18" charset="0"/>
              </a:rPr>
              <a:t>The proposed AI-Driven Predictive Maintenance System for Rotating Machinery successfully integrates multisensory data acquisition with intelligent fault prediction techniques. By continuously monitoring vibration, temperature, current, and voltage parameters, the system enables early detection of mechanical and electrical abnormalities.</a:t>
            </a:r>
          </a:p>
          <a:p>
            <a:pPr algn="just">
              <a:buNone/>
            </a:pPr>
            <a:r>
              <a:rPr lang="en-US" sz="2800" dirty="0">
                <a:latin typeface="Times New Roman" panose="02020603050405020304" pitchFamily="18" charset="0"/>
                <a:cs typeface="Times New Roman" panose="02020603050405020304" pitchFamily="18" charset="0"/>
              </a:rPr>
              <a:t>The implementation of machine learning algorithms enhances fault diagnosis accuracy and supports condition-based maintenance strategies. This approach reduces unplanned downtime, lowers maintenance costs, and improves overall machine reliability. The system’s modular and scalable architecture makes it suitable for real-time industrial deployment and future upgrades, contributing to smarter and more efficient industrial automation.</a:t>
            </a:r>
          </a:p>
        </p:txBody>
      </p:sp>
    </p:spTree>
    <p:extLst>
      <p:ext uri="{BB962C8B-B14F-4D97-AF65-F5344CB8AC3E}">
        <p14:creationId xmlns:p14="http://schemas.microsoft.com/office/powerpoint/2010/main" val="3713480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8D615A-FF32-8B4A-9DAC-5D0367AA071B}"/>
              </a:ext>
            </a:extLst>
          </p:cNvPr>
          <p:cNvSpPr txBox="1"/>
          <p:nvPr/>
        </p:nvSpPr>
        <p:spPr>
          <a:xfrm>
            <a:off x="462116" y="245806"/>
            <a:ext cx="1134275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715B7954-AC07-A413-8134-05ED93763F36}"/>
              </a:ext>
            </a:extLst>
          </p:cNvPr>
          <p:cNvSpPr>
            <a:spLocks noChangeArrowheads="1"/>
          </p:cNvSpPr>
          <p:nvPr/>
        </p:nvSpPr>
        <p:spPr bwMode="auto">
          <a:xfrm>
            <a:off x="462116" y="676693"/>
            <a:ext cx="1134275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mj-lt"/>
              <a:buAutoNum type="arabicPeriod"/>
            </a:pPr>
            <a:r>
              <a:rPr lang="en-US" altLang="en-US" sz="2000" b="1" dirty="0" err="1">
                <a:latin typeface="Times New Roman" panose="02020603050405020304" pitchFamily="18" charset="0"/>
                <a:cs typeface="Times New Roman" panose="02020603050405020304" pitchFamily="18" charset="0"/>
              </a:rPr>
              <a:t>Lycksam</a:t>
            </a:r>
            <a:r>
              <a:rPr lang="en-US" altLang="en-US" sz="2000" b="1" dirty="0">
                <a:latin typeface="Times New Roman" panose="02020603050405020304" pitchFamily="18" charset="0"/>
                <a:cs typeface="Times New Roman" panose="02020603050405020304" pitchFamily="18" charset="0"/>
              </a:rPr>
              <a:t>, A., </a:t>
            </a:r>
            <a:r>
              <a:rPr lang="en-US" altLang="en-US" sz="2000" b="1" dirty="0" err="1">
                <a:latin typeface="Times New Roman" panose="02020603050405020304" pitchFamily="18" charset="0"/>
                <a:cs typeface="Times New Roman" panose="02020603050405020304" pitchFamily="18" charset="0"/>
              </a:rPr>
              <a:t>O’Nils</a:t>
            </a:r>
            <a:r>
              <a:rPr lang="en-US" altLang="en-US" sz="2000" b="1" dirty="0">
                <a:latin typeface="Times New Roman" panose="02020603050405020304" pitchFamily="18" charset="0"/>
                <a:cs typeface="Times New Roman" panose="02020603050405020304" pitchFamily="18" charset="0"/>
              </a:rPr>
              <a:t>, M., &amp; Qureshi, F. Z.</a:t>
            </a:r>
            <a:r>
              <a:rPr lang="en-US" altLang="en-US" sz="2000" dirty="0">
                <a:latin typeface="Times New Roman" panose="02020603050405020304" pitchFamily="18" charset="0"/>
                <a:cs typeface="Times New Roman" panose="02020603050405020304" pitchFamily="18" charset="0"/>
              </a:rPr>
              <a:t> (2025). </a:t>
            </a:r>
            <a:r>
              <a:rPr lang="en-US" altLang="en-US" sz="2000" i="1" dirty="0">
                <a:latin typeface="Times New Roman" panose="02020603050405020304" pitchFamily="18" charset="0"/>
                <a:cs typeface="Times New Roman" panose="02020603050405020304" pitchFamily="18" charset="0"/>
              </a:rPr>
              <a:t>A Prognostic Framework for Rotating Machines Considering Multi-Component Fault Scenarios</a:t>
            </a:r>
            <a:r>
              <a:rPr lang="en-US" altLang="en-US" sz="2000" dirty="0">
                <a:latin typeface="Times New Roman" panose="02020603050405020304" pitchFamily="18" charset="0"/>
                <a:cs typeface="Times New Roman" panose="02020603050405020304" pitchFamily="18" charset="0"/>
              </a:rPr>
              <a:t>. IEEE Access, Vol. 13. doi:10.1109/ACCESS.2025.3572582.</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Shuriya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(2026).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Predictive Maintenance via Sensor Fusion and Machine Learning in Downtime Reduction and Equipment Efficiency in Industry 4.0 Manufacturing Plants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Preprints.org. doi:10.20944/preprints202601.0120.v1.</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Bisht, S. S., Charaya, S., &amp; Mehta, 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IoT-Driven Predictive Maintenance Model for Rotating Machinery Using Machine Learning and Deep Learning Techniques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of Research and Technology (IJRT).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Ruksana.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Advancing Predictive Maintenance with Edge AI and IoT Integration in Industrial Systems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of Scientific Research &amp; Engineering Trends (IJSRET), 11(2).</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Yamamoto, 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 of AI-Based Predictive Maintenance in Reducing Operational Downtime in Industrial Units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of Engineering Management Research and Development (IJEGMRD), 2(1).</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Kaveri S., John, K. S., Satheesh, P., Wilson, R. K., &amp; John, J.</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Maintenance of Machines Using IoT and Machine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on Emerging Research Areas (IJERA).</a:t>
            </a:r>
          </a:p>
        </p:txBody>
      </p:sp>
    </p:spTree>
    <p:extLst>
      <p:ext uri="{BB962C8B-B14F-4D97-AF65-F5344CB8AC3E}">
        <p14:creationId xmlns:p14="http://schemas.microsoft.com/office/powerpoint/2010/main" val="950004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CFDF23-EF2C-1655-8348-757DB7214B21}"/>
              </a:ext>
            </a:extLst>
          </p:cNvPr>
          <p:cNvSpPr txBox="1"/>
          <p:nvPr/>
        </p:nvSpPr>
        <p:spPr>
          <a:xfrm>
            <a:off x="452284" y="432619"/>
            <a:ext cx="11287432" cy="5386090"/>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FUTURE WORK</a:t>
            </a:r>
          </a:p>
          <a:p>
            <a:r>
              <a:rPr lang="en-US" sz="2400" b="1" dirty="0">
                <a:latin typeface="Times New Roman" panose="02020603050405020304" pitchFamily="18" charset="0"/>
                <a:cs typeface="Times New Roman" panose="02020603050405020304" pitchFamily="18" charset="0"/>
              </a:rPr>
              <a:t>1. Advanced Signal Processing</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FFT, wavelet analysis for precise fault identification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Detect bearing faults, imbalance, and gear defects</a:t>
            </a:r>
            <a:endParaRPr lang="en-IN" sz="32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2. </a:t>
            </a:r>
            <a:r>
              <a:rPr lang="en-US" sz="2400" b="1" dirty="0">
                <a:latin typeface="Times New Roman" panose="02020603050405020304" pitchFamily="18" charset="0"/>
                <a:cs typeface="Times New Roman" panose="02020603050405020304" pitchFamily="18" charset="0"/>
              </a:rPr>
              <a:t>Remaining Useful Life (RUL) Prediction</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Estimate time to failure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 optimal maintenance scheduling</a:t>
            </a:r>
          </a:p>
          <a:p>
            <a:r>
              <a:rPr lang="en-US" sz="2400" dirty="0">
                <a:latin typeface="Times New Roman" panose="02020603050405020304" pitchFamily="18" charset="0"/>
                <a:cs typeface="Times New Roman" panose="02020603050405020304" pitchFamily="18" charset="0"/>
              </a:rPr>
              <a:t>3. </a:t>
            </a:r>
            <a:r>
              <a:rPr lang="en-US" sz="2400" b="1" dirty="0">
                <a:latin typeface="Times New Roman" panose="02020603050405020304" pitchFamily="18" charset="0"/>
                <a:cs typeface="Times New Roman" panose="02020603050405020304" pitchFamily="18" charset="0"/>
              </a:rPr>
              <a:t>Digital Twin Technology</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 virtual model of machinery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Compare real-time data with simulated behavior</a:t>
            </a:r>
          </a:p>
          <a:p>
            <a:r>
              <a:rPr lang="en-IN" sz="2400" b="1" dirty="0">
                <a:latin typeface="Times New Roman" panose="02020603050405020304" pitchFamily="18" charset="0"/>
                <a:cs typeface="Times New Roman" panose="02020603050405020304" pitchFamily="18" charset="0"/>
              </a:rPr>
              <a:t>4. Fleet Monitoring &amp; Cloud Analytics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Monitor multiple machines centrally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 large-scale data analysis &amp; benchmarking</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0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E8012-7ED2-219E-15BC-BA337940FABE}"/>
              </a:ext>
            </a:extLst>
          </p:cNvPr>
          <p:cNvSpPr txBox="1"/>
          <p:nvPr/>
        </p:nvSpPr>
        <p:spPr>
          <a:xfrm>
            <a:off x="1" y="3105834"/>
            <a:ext cx="1219199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THANK YOU</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127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466</TotalTime>
  <Words>4064</Words>
  <Application>Microsoft Office PowerPoint</Application>
  <PresentationFormat>Widescreen</PresentationFormat>
  <Paragraphs>372</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Calibri</vt:lpstr>
      <vt:lpstr>Calibri Light</vt:lpstr>
      <vt:lpstr>Times New Roman</vt:lpstr>
      <vt:lpstr>Wingdings</vt:lpstr>
      <vt:lpstr>Office Theme</vt:lpstr>
      <vt:lpstr>AI-Driven Predictive Maintenance System for Rotating Machinery using Multisensory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DESCRIPTION</vt:lpstr>
      <vt:lpstr>ARDUINO UNO :</vt:lpstr>
      <vt:lpstr>MPU6050-INTRODUCTION :</vt:lpstr>
      <vt:lpstr>IOT-ESP 8266 :</vt:lpstr>
      <vt:lpstr>PIN CONFIGURATION IOT-ESP 8266 :</vt:lpstr>
      <vt:lpstr>CURRENT TRANSFORMER(CT):</vt:lpstr>
      <vt:lpstr>TEMPERATURE SENSOR :</vt:lpstr>
      <vt:lpstr>PowerPoint Presentation</vt:lpstr>
      <vt:lpstr>PowerPoint Presentation</vt:lpstr>
      <vt:lpstr>POWER SUPPLY :</vt:lpstr>
      <vt:lpstr>WORKING :</vt:lpstr>
      <vt:lpstr>SKETCH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ragul ragul</dc:creator>
  <cp:lastModifiedBy>Francies T</cp:lastModifiedBy>
  <cp:revision>27</cp:revision>
  <dcterms:created xsi:type="dcterms:W3CDTF">2026-02-16T17:45:05Z</dcterms:created>
  <dcterms:modified xsi:type="dcterms:W3CDTF">2026-04-19T17:56:24Z</dcterms:modified>
</cp:coreProperties>
</file>